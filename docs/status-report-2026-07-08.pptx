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474720" y="0"/>
            <a:ext cx="640080" cy="6858000"/>
          </a:xfrm>
          <a:prstGeom prst="rect">
            <a:avLst/>
          </a:prstGeom>
          <a:solidFill>
            <a:srgbClr val="E85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4937760"/>
            <a:ext cx="32004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0" b="1">
                <a:solidFill>
                  <a:srgbClr val="FFF6EE"/>
                </a:solidFill>
                <a:latin typeface="Inter"/>
              </a:rPr>
              <a:t>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FFF6EE"/>
                </a:solidFill>
                <a:latin typeface="Inter"/>
              </a:rPr>
              <a:t>NUTRITRACK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772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FFF6EE"/>
                </a:solidFill>
                <a:latin typeface="Inter"/>
              </a:rPr>
              <a:t>v0.1.0  ·  build 2026.07.08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0972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6B35"/>
                </a:solidFill>
                <a:latin typeface="Inter"/>
              </a:rPr>
              <a:t>STATUS REPORT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508760"/>
            <a:ext cx="73152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A1A1A"/>
                </a:solidFill>
                <a:latin typeface="Inter"/>
              </a:rPr>
              <a:t>Platform, infrastructure,</a:t>
            </a:r>
          </a:p>
          <a:p>
            <a:pPr algn="l">
              <a:lnSpc>
                <a:spcPct val="115000"/>
              </a:lnSpc>
            </a:pPr>
            <a:r>
              <a:rPr sz="3200" b="1">
                <a:solidFill>
                  <a:srgbClr val="1A1A1A"/>
                </a:solidFill>
                <a:latin typeface="Inter"/>
              </a:rPr>
              <a:t>architecture &amp; UX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29184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6B6B6B"/>
                </a:solidFill>
                <a:latin typeface="Inter"/>
              </a:rPr>
              <a:t>Top-priority problem list with risk &amp; urgency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5029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A0A0A0"/>
                </a:solidFill>
                <a:latin typeface="Inter"/>
              </a:rPr>
              <a:t>REPORT 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5303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1A1A1A"/>
                </a:solidFill>
                <a:latin typeface="Inter"/>
              </a:rPr>
              <a:t>2026-07-08  ·  00:12 Asia/Shanghai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5760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A0A0A0"/>
                </a:solidFill>
                <a:latin typeface="Inter"/>
              </a:rPr>
              <a:t>AUTHOR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59893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1A1A1A"/>
                </a:solidFill>
                <a:latin typeface="Inter"/>
              </a:rPr>
              <a:t>Mavis (audit + analysis)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FF6B35"/>
                </a:solidFill>
                <a:latin typeface="Inter"/>
              </a:rPr>
              <a:t>SECTION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A1A1A"/>
                </a:solidFill>
                <a:latin typeface="Inter"/>
              </a:rPr>
              <a:t>Executive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B6B6B"/>
                </a:solidFill>
                <a:latin typeface="Inter"/>
              </a:rPr>
              <a:t>Where NutriTrack stands today, in 4 numbers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2743200" cy="2377440"/>
          </a:xfrm>
          <a:prstGeom prst="roundRect">
            <a:avLst>
              <a:gd name="adj" fmla="val 6000"/>
            </a:avLst>
          </a:prstGeom>
          <a:solidFill>
            <a:srgbClr val="F5F5F7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2743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4800" b="1">
                <a:solidFill>
                  <a:srgbClr val="E53935"/>
                </a:solidFill>
                <a:latin typeface="Inter"/>
              </a:rPr>
              <a:t>30%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346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1A1A1A"/>
                </a:solidFill>
                <a:latin typeface="Inter"/>
              </a:rPr>
              <a:t>Production-ready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46120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>
                <a:solidFill>
                  <a:srgbClr val="6B6B6B"/>
                </a:solidFill>
                <a:latin typeface="Inter"/>
              </a:rPr>
              <a:t>Code is structured</a:t>
            </a:r>
          </a:p>
          <a:p>
            <a:pPr algn="ctr">
              <a:lnSpc>
                <a:spcPct val="130000"/>
              </a:lnSpc>
            </a:pPr>
            <a:r>
              <a:rPr sz="1000" b="0">
                <a:solidFill>
                  <a:srgbClr val="6B6B6B"/>
                </a:solidFill>
                <a:latin typeface="Inter"/>
              </a:rPr>
              <a:t>but doesn't build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463040"/>
            <a:ext cx="2743200" cy="2377440"/>
          </a:xfrm>
          <a:prstGeom prst="roundRect">
            <a:avLst>
              <a:gd name="adj" fmla="val 6000"/>
            </a:avLst>
          </a:prstGeom>
          <a:solidFill>
            <a:srgbClr val="F5F5F7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37560" y="1828800"/>
            <a:ext cx="2743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4800" b="1">
                <a:solidFill>
                  <a:srgbClr val="1A1A1A"/>
                </a:solidFill>
                <a:latin typeface="Inter"/>
              </a:rPr>
              <a:t>9,373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28346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1A1A1A"/>
                </a:solidFill>
                <a:latin typeface="Inter"/>
              </a:rPr>
              <a:t>Dart LOC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3246120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>
                <a:solidFill>
                  <a:srgbClr val="6B6B6B"/>
                </a:solidFill>
                <a:latin typeface="Inter"/>
              </a:rPr>
              <a:t>across 6 features,</a:t>
            </a:r>
          </a:p>
          <a:p>
            <a:pPr algn="ctr">
              <a:lnSpc>
                <a:spcPct val="130000"/>
              </a:lnSpc>
            </a:pPr>
            <a:r>
              <a:rPr sz="1000" b="0">
                <a:solidFill>
                  <a:srgbClr val="6B6B6B"/>
                </a:solidFill>
                <a:latin typeface="Inter"/>
              </a:rPr>
              <a:t>clean architecture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463040"/>
            <a:ext cx="2743200" cy="2377440"/>
          </a:xfrm>
          <a:prstGeom prst="roundRect">
            <a:avLst>
              <a:gd name="adj" fmla="val 6000"/>
            </a:avLst>
          </a:prstGeom>
          <a:solidFill>
            <a:srgbClr val="F5F5F7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828800"/>
            <a:ext cx="2743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4800" b="1">
                <a:solidFill>
                  <a:srgbClr val="E53935"/>
                </a:solidFill>
                <a:latin typeface="Inter"/>
              </a:rPr>
              <a:t>31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8346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1A1A1A"/>
                </a:solidFill>
                <a:latin typeface="Inter"/>
              </a:rPr>
              <a:t>Compile errors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246120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>
                <a:solidFill>
                  <a:srgbClr val="6B6B6B"/>
                </a:solidFill>
                <a:latin typeface="Inter"/>
              </a:rPr>
              <a:t>block next build,</a:t>
            </a:r>
          </a:p>
          <a:p>
            <a:pPr algn="ctr">
              <a:lnSpc>
                <a:spcPct val="130000"/>
              </a:lnSpc>
            </a:pPr>
            <a:r>
              <a:rPr sz="1000" b="0">
                <a:solidFill>
                  <a:srgbClr val="6B6B6B"/>
                </a:solidFill>
                <a:latin typeface="Inter"/>
              </a:rPr>
              <a:t>all in 2 files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98280" y="1463040"/>
            <a:ext cx="2743200" cy="2377440"/>
          </a:xfrm>
          <a:prstGeom prst="roundRect">
            <a:avLst>
              <a:gd name="adj" fmla="val 6000"/>
            </a:avLst>
          </a:prstGeom>
          <a:solidFill>
            <a:srgbClr val="F5F5F7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98280" y="1828800"/>
            <a:ext cx="2743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4800" b="1">
                <a:solidFill>
                  <a:srgbClr val="E53935"/>
                </a:solidFill>
                <a:latin typeface="Inter"/>
              </a:rP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8280" y="28346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1A1A1A"/>
                </a:solidFill>
                <a:latin typeface="Inter"/>
              </a:rPr>
              <a:t>Tests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2600" y="3246120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>
                <a:solidFill>
                  <a:srgbClr val="6B6B6B"/>
                </a:solidFill>
                <a:latin typeface="Inter"/>
              </a:rPr>
              <a:t>zero coverage,</a:t>
            </a:r>
          </a:p>
          <a:p>
            <a:pPr algn="ctr">
              <a:lnSpc>
                <a:spcPct val="130000"/>
              </a:lnSpc>
            </a:pPr>
            <a:r>
              <a:rPr sz="1000" b="0">
                <a:solidFill>
                  <a:srgbClr val="6B6B6B"/>
                </a:solidFill>
                <a:latin typeface="Inter"/>
              </a:rPr>
              <a:t>test/ doesn't exist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160520"/>
            <a:ext cx="3703320" cy="2103120"/>
          </a:xfrm>
          <a:prstGeom prst="roundRect">
            <a:avLst>
              <a:gd name="adj" fmla="val 6000"/>
            </a:avLst>
          </a:prstGeom>
          <a:solidFill>
            <a:srgbClr val="FAFAFA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4160520"/>
            <a:ext cx="109728" cy="2103120"/>
          </a:xfrm>
          <a:prstGeom prst="rect">
            <a:avLst/>
          </a:prstGeom>
          <a:solidFill>
            <a:srgbClr val="00C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3434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00C896"/>
                </a:solidFill>
                <a:latin typeface="Inter"/>
              </a:rPr>
              <a:t>WHAT'S WORKING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709160"/>
            <a:ext cx="32004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>
                <a:solidFill>
                  <a:srgbClr val="00C896"/>
                </a:solidFill>
                <a:latin typeface="Inter"/>
              </a:rPr>
              <a:t>✓ </a:t>
            </a:r>
            <a:r>
              <a:rPr sz="1200" b="0">
                <a:solidFill>
                  <a:srgbClr val="1A1A1A"/>
                </a:solidFill>
                <a:latin typeface="Inter"/>
              </a:rPr>
              <a:t>AI gateway architecture
</a:t>
            </a:r>
          </a:p>
          <a:p>
            <a:pPr algn="l">
              <a:lnSpc>
                <a:spcPct val="140000"/>
              </a:lnSpc>
            </a:pPr>
            <a:r>
              <a:rPr sz="1400" b="1">
                <a:solidFill>
                  <a:srgbClr val="00C896"/>
                </a:solidFill>
                <a:latin typeface="Inter"/>
              </a:rPr>
              <a:t>✓ </a:t>
            </a:r>
            <a:r>
              <a:rPr sz="1200" b="0">
                <a:solidFill>
                  <a:srgbClr val="1A1A1A"/>
                </a:solidFill>
                <a:latin typeface="Inter"/>
              </a:rPr>
              <a:t>Drift DB schema (7 tables)
</a:t>
            </a:r>
          </a:p>
          <a:p>
            <a:pPr algn="l">
              <a:lnSpc>
                <a:spcPct val="140000"/>
              </a:lnSpc>
            </a:pPr>
            <a:r>
              <a:rPr sz="1400" b="1">
                <a:solidFill>
                  <a:srgbClr val="00C896"/>
                </a:solidFill>
                <a:latin typeface="Inter"/>
              </a:rPr>
              <a:t>✓ </a:t>
            </a:r>
            <a:r>
              <a:rPr sz="1200" b="0">
                <a:solidFill>
                  <a:srgbClr val="1A1A1A"/>
                </a:solidFill>
                <a:latin typeface="Inter"/>
              </a:rPr>
              <a:t>PB live (8 nt_* collections)
</a:t>
            </a:r>
          </a:p>
          <a:p>
            <a:pPr algn="l">
              <a:lnSpc>
                <a:spcPct val="140000"/>
              </a:lnSpc>
            </a:pPr>
            <a:r>
              <a:rPr sz="1400" b="1">
                <a:solidFill>
                  <a:srgbClr val="00C896"/>
                </a:solidFill>
                <a:latin typeface="Inter"/>
              </a:rPr>
              <a:t>✓ </a:t>
            </a:r>
            <a:r>
              <a:rPr sz="1200" b="0">
                <a:solidFill>
                  <a:srgbClr val="1A1A1A"/>
                </a:solidFill>
                <a:latin typeface="Inter"/>
              </a:rPr>
              <a:t>Brand identity shipped
</a:t>
            </a:r>
          </a:p>
          <a:p>
            <a:pPr algn="l">
              <a:lnSpc>
                <a:spcPct val="140000"/>
              </a:lnSpc>
            </a:pPr>
            <a:r>
              <a:rPr sz="1400" b="1">
                <a:solidFill>
                  <a:srgbClr val="00C896"/>
                </a:solidFill>
                <a:latin typeface="Inter"/>
              </a:rPr>
              <a:t>✓ </a:t>
            </a:r>
            <a:r>
              <a:rPr sz="1200" b="0">
                <a:solidFill>
                  <a:srgbClr val="1A1A1A"/>
                </a:solidFill>
                <a:latin typeface="Inter"/>
              </a:rPr>
              <a:t>AI vision + offline cache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97680" y="4160520"/>
            <a:ext cx="3703320" cy="2103120"/>
          </a:xfrm>
          <a:prstGeom prst="roundRect">
            <a:avLst>
              <a:gd name="adj" fmla="val 6000"/>
            </a:avLst>
          </a:prstGeom>
          <a:solidFill>
            <a:srgbClr val="FAFAFA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97680" y="4160520"/>
            <a:ext cx="109728" cy="2103120"/>
          </a:xfrm>
          <a:prstGeom prst="rect">
            <a:avLst/>
          </a:prstGeom>
          <a:solidFill>
            <a:srgbClr val="FF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17720" y="43434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FFB627"/>
                </a:solidFill>
                <a:latin typeface="Inter"/>
              </a:rPr>
              <a:t>HALF-BUILT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7720" y="4709160"/>
            <a:ext cx="32004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>
                <a:solidFill>
                  <a:srgbClr val="FFB627"/>
                </a:solidFill>
                <a:latin typeface="Inter"/>
              </a:rPr>
              <a:t>⚠ </a:t>
            </a:r>
            <a:r>
              <a:rPr sz="1200" b="0">
                <a:solidFill>
                  <a:srgbClr val="1A1A1A"/>
                </a:solidFill>
                <a:latin typeface="Inter"/>
              </a:rPr>
              <a:t>5/6 screens render fake data
</a:t>
            </a:r>
          </a:p>
          <a:p>
            <a:pPr algn="l">
              <a:lnSpc>
                <a:spcPct val="140000"/>
              </a:lnSpc>
            </a:pPr>
            <a:r>
              <a:rPr sz="1400" b="1">
                <a:solidFill>
                  <a:srgbClr val="FFB627"/>
                </a:solidFill>
                <a:latin typeface="Inter"/>
              </a:rPr>
              <a:t>⚠ </a:t>
            </a:r>
            <a:r>
              <a:rPr sz="1200" b="0">
                <a:solidFill>
                  <a:srgbClr val="1A1A1A"/>
                </a:solidFill>
                <a:latin typeface="Inter"/>
              </a:rPr>
              <a:t>No auth / onboarding route
</a:t>
            </a:r>
          </a:p>
          <a:p>
            <a:pPr algn="l">
              <a:lnSpc>
                <a:spcPct val="140000"/>
              </a:lnSpc>
            </a:pPr>
            <a:r>
              <a:rPr sz="1400" b="1">
                <a:solidFill>
                  <a:srgbClr val="FFB627"/>
                </a:solidFill>
                <a:latin typeface="Inter"/>
              </a:rPr>
              <a:t>⚠ </a:t>
            </a:r>
            <a:r>
              <a:rPr sz="1200" b="0">
                <a:solidFill>
                  <a:srgbClr val="1A1A1A"/>
                </a:solidFill>
                <a:latin typeface="Inter"/>
              </a:rPr>
              <a:t>Workout session UI missing
</a:t>
            </a:r>
          </a:p>
          <a:p>
            <a:pPr algn="l">
              <a:lnSpc>
                <a:spcPct val="140000"/>
              </a:lnSpc>
            </a:pPr>
            <a:r>
              <a:rPr sz="1400" b="1">
                <a:solidFill>
                  <a:srgbClr val="FFB627"/>
                </a:solidFill>
                <a:latin typeface="Inter"/>
              </a:rPr>
              <a:t>⚠ </a:t>
            </a:r>
            <a:r>
              <a:rPr sz="1200" b="0">
                <a:solidFill>
                  <a:srgbClr val="1A1A1A"/>
                </a:solidFill>
                <a:latin typeface="Inter"/>
              </a:rPr>
              <a:t>Exercise DB: 46/488 (9.4%)
</a:t>
            </a:r>
          </a:p>
          <a:p>
            <a:pPr algn="l">
              <a:lnSpc>
                <a:spcPct val="140000"/>
              </a:lnSpc>
            </a:pPr>
            <a:r>
              <a:rPr sz="1400" b="1">
                <a:solidFill>
                  <a:srgbClr val="FFB627"/>
                </a:solidFill>
                <a:latin typeface="Inter"/>
              </a:rPr>
              <a:t>⚠ </a:t>
            </a:r>
            <a:r>
              <a:rPr sz="1200" b="0">
                <a:solidFill>
                  <a:srgbClr val="1A1A1A"/>
                </a:solidFill>
                <a:latin typeface="Inter"/>
              </a:rPr>
              <a:t>No Sentry / crash reporting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38160" y="4160520"/>
            <a:ext cx="3566160" cy="2103120"/>
          </a:xfrm>
          <a:prstGeom prst="roundRect">
            <a:avLst>
              <a:gd name="adj" fmla="val 6000"/>
            </a:avLst>
          </a:prstGeom>
          <a:solidFill>
            <a:srgbClr val="FAFAFA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38160" y="4160520"/>
            <a:ext cx="109728" cy="2103120"/>
          </a:xfrm>
          <a:prstGeom prst="rect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58200" y="43434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E53935"/>
                </a:solidFill>
                <a:latin typeface="Inter"/>
              </a:rPr>
              <a:t>BLOCKERS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58200" y="4709160"/>
            <a:ext cx="32004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>
                <a:solidFill>
                  <a:srgbClr val="E53935"/>
                </a:solidFill>
                <a:latin typeface="Inter"/>
              </a:rPr>
              <a:t>✗ </a:t>
            </a:r>
            <a:r>
              <a:rPr sz="1200" b="0">
                <a:solidFill>
                  <a:srgbClr val="1A1A1A"/>
                </a:solidFill>
                <a:latin typeface="Inter"/>
              </a:rPr>
              <a:t>App won't compile
</a:t>
            </a:r>
          </a:p>
          <a:p>
            <a:pPr algn="l">
              <a:lnSpc>
                <a:spcPct val="140000"/>
              </a:lnSpc>
            </a:pPr>
            <a:r>
              <a:rPr sz="1400" b="1">
                <a:solidFill>
                  <a:srgbClr val="E53935"/>
                </a:solidFill>
                <a:latin typeface="Inter"/>
              </a:rPr>
              <a:t>✗ </a:t>
            </a:r>
            <a:r>
              <a:rPr sz="1200" b="0">
                <a:solidFill>
                  <a:srgbClr val="1A1A1A"/>
                </a:solidFill>
                <a:latin typeface="Inter"/>
              </a:rPr>
              <a:t>Never run on a device
</a:t>
            </a:r>
          </a:p>
          <a:p>
            <a:pPr algn="l">
              <a:lnSpc>
                <a:spcPct val="140000"/>
              </a:lnSpc>
            </a:pPr>
            <a:r>
              <a:rPr sz="1400" b="1">
                <a:solidFill>
                  <a:srgbClr val="E53935"/>
                </a:solidFill>
                <a:latin typeface="Inter"/>
              </a:rPr>
              <a:t>✗ </a:t>
            </a:r>
            <a:r>
              <a:rPr sz="1200" b="0">
                <a:solidFill>
                  <a:srgbClr val="1A1A1A"/>
                </a:solidFill>
                <a:latin typeface="Inter"/>
              </a:rPr>
              <a:t>9 packages on major N-1
</a:t>
            </a:r>
          </a:p>
          <a:p>
            <a:pPr algn="l">
              <a:lnSpc>
                <a:spcPct val="140000"/>
              </a:lnSpc>
            </a:pPr>
            <a:r>
              <a:rPr sz="1400" b="1">
                <a:solidFill>
                  <a:srgbClr val="E53935"/>
                </a:solidFill>
                <a:latin typeface="Inter"/>
              </a:rPr>
              <a:t>✗ </a:t>
            </a:r>
            <a:r>
              <a:rPr sz="1200" b="0">
                <a:solidFill>
                  <a:srgbClr val="1A1A1A"/>
                </a:solidFill>
                <a:latin typeface="Inter"/>
              </a:rPr>
              <a:t>No crash reporting
</a:t>
            </a:r>
          </a:p>
          <a:p>
            <a:pPr algn="l">
              <a:lnSpc>
                <a:spcPct val="140000"/>
              </a:lnSpc>
            </a:pPr>
            <a:r>
              <a:rPr sz="1400" b="1">
                <a:solidFill>
                  <a:srgbClr val="E53935"/>
                </a:solidFill>
                <a:latin typeface="Inter"/>
              </a:rPr>
              <a:t>✗ </a:t>
            </a:r>
            <a:r>
              <a:rPr sz="1200" b="0">
                <a:solidFill>
                  <a:srgbClr val="1A1A1A"/>
                </a:solidFill>
                <a:latin typeface="Inter"/>
              </a:rPr>
              <a:t>7 dead dependencies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A0A0A0"/>
                </a:solidFill>
                <a:latin typeface="Inter"/>
              </a:rPr>
              <a:t>NutriTrack · Status Report · 2026-07-08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A0A0A0"/>
                </a:solidFill>
                <a:latin typeface="Inter"/>
              </a:rPr>
              <a:t>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FF6B35"/>
                </a:solidFill>
                <a:latin typeface="Inter"/>
              </a:rPr>
              <a:t>SECTION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A1A1A"/>
                </a:solidFill>
                <a:latin typeface="Inter"/>
              </a:rPr>
              <a:t>Platform Status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B6B6B"/>
                </a:solidFill>
                <a:latin typeface="Inter"/>
              </a:rPr>
              <a:t>Flutter SDK, dependencies, platform readiness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FF6B35"/>
                </a:solidFill>
                <a:latin typeface="Inter"/>
              </a:rPr>
              <a:t>STACK SNAPSHOT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828800"/>
            <a:ext cx="5760720" cy="292608"/>
          </a:xfrm>
          <a:prstGeom prst="roundRect">
            <a:avLst>
              <a:gd name="adj" fmla="val 15000"/>
            </a:avLst>
          </a:prstGeom>
          <a:solidFill>
            <a:srgbClr val="FAFAFA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865376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A1A1A"/>
                </a:solidFill>
                <a:latin typeface="Inter"/>
              </a:rPr>
              <a:t>Flutter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865376"/>
            <a:ext cx="3840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6B6B"/>
                </a:solidFill>
                <a:latin typeface="Inter"/>
              </a:rPr>
              <a:t>3.27+ (declared) · 3.29.3 in your lockfile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1865376"/>
            <a:ext cx="274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C896"/>
                </a:solidFill>
                <a:latin typeface="Inter"/>
              </a:rPr>
              <a:t>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157984"/>
            <a:ext cx="5760720" cy="292608"/>
          </a:xfrm>
          <a:prstGeom prst="roundRect">
            <a:avLst>
              <a:gd name="adj" fmla="val 15000"/>
            </a:avLst>
          </a:prstGeom>
          <a:solidFill>
            <a:srgbClr val="F5F5F7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19456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A1A1A"/>
                </a:solidFill>
                <a:latin typeface="Inter"/>
              </a:rPr>
              <a:t>Dart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2194560"/>
            <a:ext cx="3840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6B6B"/>
                </a:solidFill>
                <a:latin typeface="Inter"/>
              </a:rPr>
              <a:t>3.6+ · supports records, patterns, sealed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2194560"/>
            <a:ext cx="274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C896"/>
                </a:solidFill>
                <a:latin typeface="Inter"/>
              </a:rPr>
              <a:t>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487168"/>
            <a:ext cx="5760720" cy="292608"/>
          </a:xfrm>
          <a:prstGeom prst="roundRect">
            <a:avLst>
              <a:gd name="adj" fmla="val 15000"/>
            </a:avLst>
          </a:prstGeom>
          <a:solidFill>
            <a:srgbClr val="FAFAFA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523744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A1A1A"/>
                </a:solidFill>
                <a:latin typeface="Inter"/>
              </a:rPr>
              <a:t>State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2523744"/>
            <a:ext cx="3840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6B6B"/>
                </a:solidFill>
                <a:latin typeface="Inter"/>
              </a:rPr>
              <a:t>Riverpod 2.6.1 with @riverpod codegen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0" y="2523744"/>
            <a:ext cx="274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C896"/>
                </a:solidFill>
                <a:latin typeface="Inter"/>
              </a:rPr>
              <a:t>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2816352"/>
            <a:ext cx="5760720" cy="292608"/>
          </a:xfrm>
          <a:prstGeom prst="roundRect">
            <a:avLst>
              <a:gd name="adj" fmla="val 15000"/>
            </a:avLst>
          </a:prstGeom>
          <a:solidFill>
            <a:srgbClr val="F5F5F7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2852928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A1A1A"/>
                </a:solidFill>
                <a:latin typeface="Inter"/>
              </a:rPr>
              <a:t>Routing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2852928"/>
            <a:ext cx="3840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6B6B"/>
                </a:solidFill>
                <a:latin typeface="Inter"/>
              </a:rPr>
              <a:t>go_router 14.8.1 (StatefulShellRoute)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0" y="2852928"/>
            <a:ext cx="274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C896"/>
                </a:solidFill>
                <a:latin typeface="Inter"/>
              </a:rPr>
              <a:t>✓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145536"/>
            <a:ext cx="5760720" cy="292608"/>
          </a:xfrm>
          <a:prstGeom prst="roundRect">
            <a:avLst>
              <a:gd name="adj" fmla="val 15000"/>
            </a:avLst>
          </a:prstGeom>
          <a:solidFill>
            <a:srgbClr val="FAFAFA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182112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A1A1A"/>
                </a:solidFill>
                <a:latin typeface="Inter"/>
              </a:rPr>
              <a:t>Local DB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3182112"/>
            <a:ext cx="3840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6B6B"/>
                </a:solidFill>
                <a:latin typeface="Inter"/>
              </a:rPr>
              <a:t>Drift 2.28.2 (7 tables, all defined)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52160" y="3182112"/>
            <a:ext cx="274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C896"/>
                </a:solidFill>
                <a:latin typeface="Inter"/>
              </a:rPr>
              <a:t>✓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3474720"/>
            <a:ext cx="5760720" cy="292608"/>
          </a:xfrm>
          <a:prstGeom prst="roundRect">
            <a:avLst>
              <a:gd name="adj" fmla="val 15000"/>
            </a:avLst>
          </a:prstGeom>
          <a:solidFill>
            <a:srgbClr val="F5F5F7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3511296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A1A1A"/>
                </a:solidFill>
                <a:latin typeface="Inter"/>
              </a:rPr>
              <a:t>AI Gateway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3511296"/>
            <a:ext cx="3840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6B6B"/>
                </a:solidFill>
                <a:latin typeface="Inter"/>
              </a:rPr>
              <a:t>OpenRouter → MiniMax M3 + Gemini + GPT-4o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52160" y="3511296"/>
            <a:ext cx="274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C896"/>
                </a:solidFill>
                <a:latin typeface="Inter"/>
              </a:rPr>
              <a:t>✓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803904"/>
            <a:ext cx="5760720" cy="292608"/>
          </a:xfrm>
          <a:prstGeom prst="roundRect">
            <a:avLst>
              <a:gd name="adj" fmla="val 15000"/>
            </a:avLst>
          </a:prstGeom>
          <a:solidFill>
            <a:srgbClr val="FAFAFA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384048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A1A1A"/>
                </a:solidFill>
                <a:latin typeface="Inter"/>
              </a:rPr>
              <a:t>Voice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0240" y="3840480"/>
            <a:ext cx="3840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6B6B"/>
                </a:solidFill>
                <a:latin typeface="Inter"/>
              </a:rPr>
              <a:t>record 5.1.2 → Whisper transcription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52160" y="3840480"/>
            <a:ext cx="274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C896"/>
                </a:solidFill>
                <a:latin typeface="Inter"/>
              </a:rPr>
              <a:t>✓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4133088"/>
            <a:ext cx="5760720" cy="292608"/>
          </a:xfrm>
          <a:prstGeom prst="roundRect">
            <a:avLst>
              <a:gd name="adj" fmla="val 15000"/>
            </a:avLst>
          </a:prstGeom>
          <a:solidFill>
            <a:srgbClr val="F5F5F7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4169664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A1A1A"/>
                </a:solidFill>
                <a:latin typeface="Inter"/>
              </a:rPr>
              <a:t>Barcode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20240" y="4169664"/>
            <a:ext cx="3840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6B6B"/>
                </a:solidFill>
                <a:latin typeface="Inter"/>
              </a:rPr>
              <a:t>mobile_scanner 5.2.3 + OFF client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52160" y="4169664"/>
            <a:ext cx="274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B627"/>
                </a:solidFill>
                <a:latin typeface="Inter"/>
              </a:rPr>
              <a:t>⚠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4462272"/>
            <a:ext cx="5760720" cy="292608"/>
          </a:xfrm>
          <a:prstGeom prst="roundRect">
            <a:avLst>
              <a:gd name="adj" fmla="val 15000"/>
            </a:avLst>
          </a:prstGeom>
          <a:solidFill>
            <a:srgbClr val="FAFAFA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4498848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A1A1A"/>
                </a:solidFill>
                <a:latin typeface="Inter"/>
              </a:rPr>
              <a:t>Camera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20240" y="4498848"/>
            <a:ext cx="3840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6B6B"/>
                </a:solidFill>
                <a:latin typeface="Inter"/>
              </a:rPr>
              <a:t>camera 0.11.4 → 0.12.0+1 available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52160" y="4498848"/>
            <a:ext cx="274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B627"/>
                </a:solidFill>
                <a:latin typeface="Inter"/>
              </a:rPr>
              <a:t>⚠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" y="4791456"/>
            <a:ext cx="5760720" cy="292608"/>
          </a:xfrm>
          <a:prstGeom prst="roundRect">
            <a:avLst>
              <a:gd name="adj" fmla="val 15000"/>
            </a:avLst>
          </a:prstGeom>
          <a:solidFill>
            <a:srgbClr val="F5F5F7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" y="4828032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A1A1A"/>
                </a:solidFill>
                <a:latin typeface="Inter"/>
              </a:rPr>
              <a:t>Cloud sync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20240" y="4828032"/>
            <a:ext cx="3840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6B6B"/>
                </a:solidFill>
                <a:latin typeface="Inter"/>
              </a:rPr>
              <a:t>Supabase declared but unused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52160" y="4828032"/>
            <a:ext cx="274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B627"/>
                </a:solidFill>
                <a:latin typeface="Inter"/>
              </a:rPr>
              <a:t>⚠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7200" y="5120640"/>
            <a:ext cx="5760720" cy="292608"/>
          </a:xfrm>
          <a:prstGeom prst="roundRect">
            <a:avLst>
              <a:gd name="adj" fmla="val 15000"/>
            </a:avLst>
          </a:prstGeom>
          <a:solidFill>
            <a:srgbClr val="FAFAFA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" y="5157216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A1A1A"/>
                </a:solidFill>
                <a:latin typeface="Inter"/>
              </a:rPr>
              <a:t>Health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920240" y="5157216"/>
            <a:ext cx="3840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6B6B"/>
                </a:solidFill>
                <a:latin typeface="Inter"/>
              </a:rPr>
              <a:t>REMOVED in this sprint (incompat)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52160" y="5157216"/>
            <a:ext cx="274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53935"/>
                </a:solidFill>
                <a:latin typeface="Inter"/>
              </a:rPr>
              <a:t>✗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0800" y="14630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FF6B35"/>
                </a:solidFill>
                <a:latin typeface="Inter"/>
              </a:rPr>
              <a:t>BUILD READINESS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400800" y="1828800"/>
            <a:ext cx="5303520" cy="292608"/>
          </a:xfrm>
          <a:prstGeom prst="roundRect">
            <a:avLst>
              <a:gd name="adj" fmla="val 15000"/>
            </a:avLst>
          </a:prstGeom>
          <a:solidFill>
            <a:srgbClr val="FAFAFA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583680" y="1865376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A1A1A"/>
                </a:solidFill>
                <a:latin typeface="Inter"/>
              </a:rPr>
              <a:t>Android compile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12480" y="1865376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E53935"/>
                </a:solidFill>
                <a:latin typeface="Inter"/>
              </a:rPr>
              <a:t>✗ FAILS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83680" y="2029968"/>
            <a:ext cx="4937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A0A0A0"/>
                </a:solidFill>
                <a:latin typeface="Inter"/>
              </a:rPr>
              <a:t>31 errors in barcode/camera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400800" y="2157984"/>
            <a:ext cx="5303520" cy="292608"/>
          </a:xfrm>
          <a:prstGeom prst="roundRect">
            <a:avLst>
              <a:gd name="adj" fmla="val 15000"/>
            </a:avLst>
          </a:prstGeom>
          <a:solidFill>
            <a:srgbClr val="F5F5F7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583680" y="2194560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A1A1A"/>
                </a:solidFill>
                <a:latin typeface="Inter"/>
              </a:rPr>
              <a:t>Android (post-fix)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412480" y="2194560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FFB627"/>
                </a:solidFill>
                <a:latin typeface="Inter"/>
              </a:rPr>
              <a:t>STAGING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83680" y="2359152"/>
            <a:ext cx="4937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A0A0A0"/>
                </a:solidFill>
                <a:latin typeface="Inter"/>
              </a:rPr>
              <a:t>~45 min of mechanical fixes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400800" y="2487168"/>
            <a:ext cx="5303520" cy="292608"/>
          </a:xfrm>
          <a:prstGeom prst="roundRect">
            <a:avLst>
              <a:gd name="adj" fmla="val 15000"/>
            </a:avLst>
          </a:prstGeom>
          <a:solidFill>
            <a:srgbClr val="FAFAFA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583680" y="2523744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A1A1A"/>
                </a:solidFill>
                <a:latin typeface="Inter"/>
              </a:rPr>
              <a:t>iOS compile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412480" y="2523744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FFB627"/>
                </a:solidFill>
                <a:latin typeface="Inter"/>
              </a:rPr>
              <a:t>UNKNOWN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583680" y="2688336"/>
            <a:ext cx="4937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A0A0A0"/>
                </a:solidFill>
                <a:latin typeface="Inter"/>
              </a:rPr>
              <a:t>macOS runner; not validated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400800" y="2816352"/>
            <a:ext cx="5303520" cy="292608"/>
          </a:xfrm>
          <a:prstGeom prst="roundRect">
            <a:avLst>
              <a:gd name="adj" fmla="val 15000"/>
            </a:avLst>
          </a:prstGeom>
          <a:solidFill>
            <a:srgbClr val="F5F5F7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583680" y="2852928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A1A1A"/>
                </a:solidFill>
                <a:latin typeface="Inter"/>
              </a:rPr>
              <a:t>Device run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412480" y="2852928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E53935"/>
                </a:solidFill>
                <a:latin typeface="Inter"/>
              </a:rPr>
              <a:t>NEVER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583680" y="3017520"/>
            <a:ext cx="4937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A0A0A0"/>
                </a:solidFill>
                <a:latin typeface="Inter"/>
              </a:rPr>
              <a:t>No `flutter run` ever executed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400800" y="3145536"/>
            <a:ext cx="5303520" cy="292608"/>
          </a:xfrm>
          <a:prstGeom prst="roundRect">
            <a:avLst>
              <a:gd name="adj" fmla="val 15000"/>
            </a:avLst>
          </a:prstGeom>
          <a:solidFill>
            <a:srgbClr val="FAFAFA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583680" y="3182112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A1A1A"/>
                </a:solidFill>
                <a:latin typeface="Inter"/>
              </a:rPr>
              <a:t>flutter analyze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412480" y="3182112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E53935"/>
                </a:solidFill>
                <a:latin typeface="Inter"/>
              </a:rPr>
              <a:t>31 errors + 17 warnings + 62 info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583680" y="3346704"/>
            <a:ext cx="4937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A0A0A0"/>
                </a:solidFill>
                <a:latin typeface="Inter"/>
              </a:rPr>
              <a:t>in 6 files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400800" y="3474720"/>
            <a:ext cx="5303520" cy="292608"/>
          </a:xfrm>
          <a:prstGeom prst="roundRect">
            <a:avLst>
              <a:gd name="adj" fmla="val 15000"/>
            </a:avLst>
          </a:prstGeom>
          <a:solidFill>
            <a:srgbClr val="F5F5F7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583680" y="3511296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A1A1A"/>
                </a:solidFill>
                <a:latin typeface="Inter"/>
              </a:rPr>
              <a:t>dart fix --apply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412480" y="3511296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00C896"/>
                </a:solidFill>
                <a:latin typeface="Inter"/>
              </a:rPr>
              <a:t>WOULD KILL 12 of 17 warnings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0" y="3675888"/>
            <a:ext cx="4937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A0A0A0"/>
                </a:solidFill>
                <a:latin typeface="Inter"/>
              </a:rPr>
              <a:t>5 sec cleanup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6400800" y="3803904"/>
            <a:ext cx="5303520" cy="292608"/>
          </a:xfrm>
          <a:prstGeom prst="roundRect">
            <a:avLst>
              <a:gd name="adj" fmla="val 15000"/>
            </a:avLst>
          </a:prstGeom>
          <a:solidFill>
            <a:srgbClr val="FAFAFA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583680" y="3840480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A1A1A"/>
                </a:solidFill>
                <a:latin typeface="Inter"/>
              </a:rPr>
              <a:t>pubspec.lock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412480" y="3840480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FFB627"/>
                </a:solidFill>
                <a:latin typeface="Inter"/>
              </a:rPr>
              <a:t>GITIGNORED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583680" y="4005072"/>
            <a:ext cx="4937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A0A0A0"/>
                </a:solidFill>
                <a:latin typeface="Inter"/>
              </a:rPr>
              <a:t>fresh clone = `pub get`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6400800" y="4133088"/>
            <a:ext cx="5303520" cy="292608"/>
          </a:xfrm>
          <a:prstGeom prst="roundRect">
            <a:avLst>
              <a:gd name="adj" fmla="val 15000"/>
            </a:avLst>
          </a:prstGeom>
          <a:solidFill>
            <a:srgbClr val="F5F5F7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583680" y="4169664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A1A1A"/>
                </a:solidFill>
                <a:latin typeface="Inter"/>
              </a:rPr>
              <a:t>Generated files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412480" y="4169664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FFB627"/>
                </a:solidFill>
                <a:latin typeface="Inter"/>
              </a:rPr>
              <a:t>GITIGNORED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583680" y="4334256"/>
            <a:ext cx="4937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A0A0A0"/>
                </a:solidFill>
                <a:latin typeface="Inter"/>
              </a:rPr>
              <a:t>fresh clone = `build_runner`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6400800" y="4462272"/>
            <a:ext cx="5303520" cy="292608"/>
          </a:xfrm>
          <a:prstGeom prst="roundRect">
            <a:avLst>
              <a:gd name="adj" fmla="val 15000"/>
            </a:avLst>
          </a:prstGeom>
          <a:solidFill>
            <a:srgbClr val="FAFAFA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583680" y="4498848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A1A1A"/>
                </a:solidFill>
                <a:latin typeface="Inter"/>
              </a:rPr>
              <a:t>Secrets config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412480" y="4498848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FFB627"/>
                </a:solidFill>
                <a:latin typeface="Inter"/>
              </a:rPr>
              <a:t>TEMPLATE ONLY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583680" y="4663440"/>
            <a:ext cx="4937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A0A0A0"/>
                </a:solidFill>
                <a:latin typeface="Inter"/>
              </a:rPr>
              <a:t>user must cp template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A0A0A0"/>
                </a:solidFill>
                <a:latin typeface="Inter"/>
              </a:rPr>
              <a:t>NutriTrack · Status Report · 2026-07-08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A0A0A0"/>
                </a:solidFill>
                <a:latin typeface="Inter"/>
              </a:rP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FF6B35"/>
                </a:solidFill>
                <a:latin typeface="Inter"/>
              </a:rPr>
              <a:t>SECTION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A1A1A"/>
                </a:solidFill>
                <a:latin typeface="Inter"/>
              </a:rPr>
              <a:t>Infrastructure Status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B6B6B"/>
                </a:solidFill>
                <a:latin typeface="Inter"/>
              </a:rPr>
              <a:t>PocketBase, GitHub Actions, dependencies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532120" cy="4572000"/>
          </a:xfrm>
          <a:prstGeom prst="roundRect">
            <a:avLst>
              <a:gd name="adj" fmla="val 6000"/>
            </a:avLst>
          </a:prstGeom>
          <a:solidFill>
            <a:srgbClr val="FAFAFA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109728" cy="4572000"/>
          </a:xfrm>
          <a:prstGeom prst="rect">
            <a:avLst/>
          </a:prstGeom>
          <a:solidFill>
            <a:srgbClr val="00C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7373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00C896"/>
                </a:solidFill>
                <a:latin typeface="Inter"/>
              </a:rPr>
              <a:t>POCKETBASE · LIVE SCHEMA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0574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1A1A"/>
                </a:solidFill>
                <a:latin typeface="Inter"/>
              </a:rPr>
              <a:t>9 collections on pocketbase.scaleupcrm.com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514600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A1A1A"/>
                </a:solidFill>
                <a:latin typeface="Inter"/>
              </a:rPr>
              <a:t>nt_users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2514600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Inter"/>
              </a:rPr>
              <a:t>0 records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69080" y="2514600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6B6B"/>
                </a:solidFill>
                <a:latin typeface="Inter"/>
              </a:rPr>
              <a:t>auth-anchored profiles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843784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A1A1A"/>
                </a:solidFill>
                <a:latin typeface="Inter"/>
              </a:rPr>
              <a:t>nt_food_logs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2843784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Inter"/>
              </a:rPr>
              <a:t>0 records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69080" y="2843784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6B6B"/>
                </a:solidFill>
                <a:latin typeface="Inter"/>
              </a:rPr>
              <a:t>synced meal entries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172968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A1A1A"/>
                </a:solidFill>
                <a:latin typeface="Inter"/>
              </a:rPr>
              <a:t>nt_exercises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800" y="3172968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FF6B35"/>
                </a:solidFill>
                <a:latin typeface="Inter"/>
              </a:rPr>
              <a:t>46 records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69080" y="3172968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6B6B"/>
                </a:solidFill>
                <a:latin typeface="Inter"/>
              </a:rPr>
              <a:t>chest-only seeded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502152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A1A1A"/>
                </a:solidFill>
                <a:latin typeface="Inter"/>
              </a:rPr>
              <a:t>nt_workout_sessions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71800" y="35021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Inter"/>
              </a:rPr>
              <a:t>0 records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69080" y="3502152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6B6B"/>
                </a:solidFill>
                <a:latin typeface="Inter"/>
              </a:rPr>
              <a:t>session history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3831336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A1A1A"/>
                </a:solidFill>
                <a:latin typeface="Inter"/>
              </a:rPr>
              <a:t>nt_weight_entries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3831336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Inter"/>
              </a:rPr>
              <a:t>0 records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69080" y="3831336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6B6B"/>
                </a:solidFill>
                <a:latin typeface="Inter"/>
              </a:rPr>
              <a:t>weight log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160520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A1A1A"/>
                </a:solidFill>
                <a:latin typeface="Inter"/>
              </a:rPr>
              <a:t>nt_favorites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71800" y="4160520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Inter"/>
              </a:rPr>
              <a:t>0 records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69080" y="4160520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6B6B"/>
                </a:solidFill>
                <a:latin typeface="Inter"/>
              </a:rPr>
              <a:t>starred foods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4489704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A1A1A"/>
                </a:solidFill>
                <a:latin typeface="Inter"/>
              </a:rPr>
              <a:t>nt_meal_templates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71800" y="4489704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Inter"/>
              </a:rPr>
              <a:t>0 records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69080" y="4489704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6B6B"/>
                </a:solidFill>
                <a:latin typeface="Inter"/>
              </a:rPr>
              <a:t>recurring meals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4818888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A1A1A"/>
                </a:solidFill>
                <a:latin typeface="Inter"/>
              </a:rPr>
              <a:t>nt_sync_queue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71800" y="4818888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Inter"/>
              </a:rPr>
              <a:t>0 records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69080" y="4818888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6B6B"/>
                </a:solidFill>
                <a:latin typeface="Inter"/>
              </a:rPr>
              <a:t>offline→cloud queue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148072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A1A1A"/>
                </a:solidFill>
                <a:latin typeface="Inter"/>
              </a:rPr>
              <a:t>nt_barcode_cache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71800" y="514807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Inter"/>
              </a:rPr>
              <a:t>0 records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69080" y="5148072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6B6B"/>
                </a:solidFill>
                <a:latin typeface="Inter"/>
              </a:rPr>
              <a:t>OFF cache (anon read)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63640" y="1554480"/>
            <a:ext cx="5532120" cy="4572000"/>
          </a:xfrm>
          <a:prstGeom prst="roundRect">
            <a:avLst>
              <a:gd name="adj" fmla="val 6000"/>
            </a:avLst>
          </a:prstGeom>
          <a:solidFill>
            <a:srgbClr val="FAFAFA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263640" y="1554480"/>
            <a:ext cx="109728" cy="457200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83680" y="17373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FF6B35"/>
                </a:solidFill>
                <a:latin typeface="Inter"/>
              </a:rPr>
              <a:t>GITHUB ACTIONS · CI/CD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0" y="20574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1A1A"/>
                </a:solidFill>
                <a:latin typeface="Inter"/>
              </a:rPr>
              <a:t>3 workflows + 1 README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0" y="251460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1A1A"/>
                </a:solidFill>
                <a:latin typeface="Inter"/>
              </a:rPr>
              <a:t>ci.yml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0" y="2770632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6B6B"/>
                </a:solidFill>
                <a:latin typeface="Inter"/>
              </a:rPr>
              <a:t>ubuntu/macos runners · analyze + test + build APK/iOS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0" y="315468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1A1A"/>
                </a:solidFill>
                <a:latin typeface="Inter"/>
              </a:rPr>
              <a:t>off-to-pb-sync.yml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0" y="3410712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6B6B"/>
                </a:solidFill>
                <a:latin typeface="Inter"/>
              </a:rPr>
              <a:t>cron 0 */6h · fetches OFF products → PB cache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0" y="379476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1A1A"/>
                </a:solidFill>
                <a:latin typeface="Inter"/>
              </a:rPr>
              <a:t>dependency-sync.yml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0" y="4050792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6B6B"/>
                </a:solidFill>
                <a:latin typeface="Inter"/>
              </a:rPr>
              <a:t>weekly · opens PR for outdated packages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0" y="47548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FF6B35"/>
                </a:solidFill>
                <a:latin typeface="Inter"/>
              </a:rPr>
              <a:t>SECRETS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83680" y="5074920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A1A1A"/>
                </a:solidFill>
                <a:latin typeface="Inter"/>
              </a:rPr>
              <a:t>PB_URL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12480" y="5074920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6B6B"/>
                </a:solidFill>
                <a:latin typeface="Inter"/>
              </a:rPr>
              <a:t>in workflow env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83680" y="5367528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A1A1A"/>
                </a:solidFill>
                <a:latin typeface="Inter"/>
              </a:rPr>
              <a:t>PB_ADMIN_EMAIL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12480" y="5367528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6B6B"/>
                </a:solidFill>
                <a:latin typeface="Inter"/>
              </a:rPr>
              <a:t>in workflow secrets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83680" y="5660136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A1A1A"/>
                </a:solidFill>
                <a:latin typeface="Inter"/>
              </a:rPr>
              <a:t>PB_ADMIN_PASSWORD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12480" y="5660136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6B6B"/>
                </a:solidFill>
                <a:latin typeface="Inter"/>
              </a:rPr>
              <a:t>in workflow secrets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83680" y="5952744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A1A1A"/>
                </a:solidFill>
                <a:latin typeface="Inter"/>
              </a:rPr>
              <a:t>OPENROUTER_API_KEY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412480" y="5952744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6B6B"/>
                </a:solidFill>
                <a:latin typeface="Inter"/>
              </a:rPr>
              <a:t>in secrets.dart (template only)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A0A0A0"/>
                </a:solidFill>
                <a:latin typeface="Inter"/>
              </a:rPr>
              <a:t>NutriTrack · Status Report · 2026-07-08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A0A0A0"/>
                </a:solidFill>
                <a:latin typeface="Inter"/>
              </a:rPr>
              <a:t>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FF6B35"/>
                </a:solidFill>
                <a:latin typeface="Inter"/>
              </a:rPr>
              <a:t>SECTION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A1A1A"/>
                </a:solidFill>
                <a:latin typeface="Inter"/>
              </a:rPr>
              <a:t>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B6B6B"/>
                </a:solidFill>
                <a:latin typeface="Inter"/>
              </a:rPr>
              <a:t>Domain-Driven Design · 6 features · 7 Drift tables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FF6B35"/>
                </a:solidFill>
                <a:latin typeface="Inter"/>
              </a:rPr>
              <a:t>FEATURES BY SIZE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828800"/>
            <a:ext cx="5760720" cy="411480"/>
          </a:xfrm>
          <a:prstGeom prst="roundRect">
            <a:avLst>
              <a:gd name="adj" fmla="val 20000"/>
            </a:avLst>
          </a:prstGeom>
          <a:solidFill>
            <a:srgbClr val="FAFAFA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901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1A1A"/>
                </a:solidFill>
                <a:latin typeface="Inter"/>
              </a:rPr>
              <a:t>camera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190195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6B6B"/>
                </a:solidFill>
                <a:latin typeface="Inter"/>
              </a:rPr>
              <a:t>snap → AI → review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1947672"/>
            <a:ext cx="1033374412800" cy="164592"/>
          </a:xfrm>
          <a:prstGeom prst="roundRect">
            <a:avLst>
              <a:gd name="adj" fmla="val 6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90195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A1A1A"/>
                </a:solidFill>
                <a:latin typeface="Inter"/>
              </a:rPr>
              <a:t>1962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286000"/>
            <a:ext cx="5760720" cy="411480"/>
          </a:xfrm>
          <a:prstGeom prst="roundRect">
            <a:avLst>
              <a:gd name="adj" fmla="val 20000"/>
            </a:avLst>
          </a:prstGeom>
          <a:solidFill>
            <a:srgbClr val="F5F5F7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3591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1A1A"/>
                </a:solidFill>
                <a:latin typeface="Inter"/>
              </a:rPr>
              <a:t>dashboard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235915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6B6B"/>
                </a:solidFill>
                <a:latin typeface="Inter"/>
              </a:rPr>
              <a:t>today's meals + macros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0" y="2404872"/>
            <a:ext cx="1037061273600" cy="164592"/>
          </a:xfrm>
          <a:prstGeom prst="roundRect">
            <a:avLst>
              <a:gd name="adj" fmla="val 6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235915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A1A1A"/>
                </a:solidFill>
                <a:latin typeface="Inter"/>
              </a:rPr>
              <a:t>1969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743200"/>
            <a:ext cx="5760720" cy="411480"/>
          </a:xfrm>
          <a:prstGeom prst="roundRect">
            <a:avLst>
              <a:gd name="adj" fmla="val 20000"/>
            </a:avLst>
          </a:prstGeom>
          <a:solidFill>
            <a:srgbClr val="FAFAFA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28163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1A1A"/>
                </a:solidFill>
                <a:latin typeface="Inter"/>
              </a:rPr>
              <a:t>barcode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281635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6B6B"/>
                </a:solidFill>
                <a:latin typeface="Inter"/>
              </a:rPr>
              <a:t>scan → OFF lookup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0" y="2862072"/>
            <a:ext cx="871152537600" cy="164592"/>
          </a:xfrm>
          <a:prstGeom prst="roundRect">
            <a:avLst>
              <a:gd name="adj" fmla="val 6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0" y="281635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A1A1A"/>
                </a:solidFill>
                <a:latin typeface="Inter"/>
              </a:rPr>
              <a:t>1654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200400"/>
            <a:ext cx="5760720" cy="411480"/>
          </a:xfrm>
          <a:prstGeom prst="roundRect">
            <a:avLst>
              <a:gd name="adj" fmla="val 20000"/>
            </a:avLst>
          </a:prstGeom>
          <a:solidFill>
            <a:srgbClr val="F5F5F7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2735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1A1A"/>
                </a:solidFill>
                <a:latin typeface="Inter"/>
              </a:rPr>
              <a:t>workout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37360" y="327355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6B6B"/>
                </a:solidFill>
                <a:latin typeface="Inter"/>
              </a:rPr>
              <a:t>search + log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0" y="3319272"/>
            <a:ext cx="550922342400" cy="164592"/>
          </a:xfrm>
          <a:prstGeom prst="roundRect">
            <a:avLst>
              <a:gd name="adj" fmla="val 6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0" y="327355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A1A1A"/>
                </a:solidFill>
                <a:latin typeface="Inter"/>
              </a:rPr>
              <a:t>1046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3657600"/>
            <a:ext cx="5760720" cy="411480"/>
          </a:xfrm>
          <a:prstGeom prst="roundRect">
            <a:avLst>
              <a:gd name="adj" fmla="val 20000"/>
            </a:avLst>
          </a:prstGeom>
          <a:solidFill>
            <a:srgbClr val="FAFAFA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37307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1A1A"/>
                </a:solidFill>
                <a:latin typeface="Inter"/>
              </a:rPr>
              <a:t>settings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37360" y="373075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6B6B"/>
                </a:solidFill>
                <a:latin typeface="Inter"/>
              </a:rPr>
              <a:t>TDEE + profile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0" y="3776472"/>
            <a:ext cx="387647078400" cy="164592"/>
          </a:xfrm>
          <a:prstGeom prst="roundRect">
            <a:avLst>
              <a:gd name="adj" fmla="val 6000"/>
            </a:avLst>
          </a:prstGeom>
          <a:solidFill>
            <a:srgbClr val="FF8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26480" y="373075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A1A1A"/>
                </a:solidFill>
                <a:latin typeface="Inter"/>
              </a:rPr>
              <a:t>736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4114800"/>
            <a:ext cx="5760720" cy="411480"/>
          </a:xfrm>
          <a:prstGeom prst="roundRect">
            <a:avLst>
              <a:gd name="adj" fmla="val 20000"/>
            </a:avLst>
          </a:prstGeom>
          <a:solidFill>
            <a:srgbClr val="F5F5F7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4187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1A1A"/>
                </a:solidFill>
                <a:latin typeface="Inter"/>
              </a:rPr>
              <a:t>insights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37360" y="418795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6B6B"/>
                </a:solidFill>
                <a:latin typeface="Inter"/>
              </a:rPr>
              <a:t>weight + trends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0" y="4233672"/>
            <a:ext cx="253340006400" cy="164592"/>
          </a:xfrm>
          <a:prstGeom prst="roundRect">
            <a:avLst>
              <a:gd name="adj" fmla="val 6000"/>
            </a:avLst>
          </a:prstGeom>
          <a:solidFill>
            <a:srgbClr val="FF8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26480" y="418795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A1A1A"/>
                </a:solidFill>
                <a:latin typeface="Inter"/>
              </a:rPr>
              <a:t>481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14630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FF6B35"/>
                </a:solidFill>
                <a:latin typeface="Inter"/>
              </a:rPr>
              <a:t>DRIFT TABLES (7)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0" y="1828800"/>
            <a:ext cx="5303520" cy="457200"/>
          </a:xfrm>
          <a:prstGeom prst="roundRect">
            <a:avLst>
              <a:gd name="adj" fmla="val 15000"/>
            </a:avLst>
          </a:prstGeom>
          <a:solidFill>
            <a:srgbClr val="FAFAFA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83680" y="190195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1A1A"/>
                </a:solidFill>
                <a:latin typeface="Inter"/>
              </a:rPr>
              <a:t>FoodLogEntries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0" y="2084832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Inter"/>
              </a:rPr>
              <a:t>meal entries + macros + source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00800" y="2331720"/>
            <a:ext cx="5303520" cy="457200"/>
          </a:xfrm>
          <a:prstGeom prst="roundRect">
            <a:avLst>
              <a:gd name="adj" fmla="val 15000"/>
            </a:avLst>
          </a:prstGeom>
          <a:solidFill>
            <a:srgbClr val="F5F5F7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0" y="240487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1A1A"/>
                </a:solidFill>
                <a:latin typeface="Inter"/>
              </a:rPr>
              <a:t>ExerciseEntries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0" y="2587752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Inter"/>
              </a:rPr>
              <a:t>logged exercises per session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00800" y="2834640"/>
            <a:ext cx="5303520" cy="457200"/>
          </a:xfrm>
          <a:prstGeom prst="roundRect">
            <a:avLst>
              <a:gd name="adj" fmla="val 15000"/>
            </a:avLst>
          </a:prstGeom>
          <a:solidFill>
            <a:srgbClr val="FAFAFA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83680" y="290779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1A1A"/>
                </a:solidFill>
                <a:latin typeface="Inter"/>
              </a:rPr>
              <a:t>WorkoutSessions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0" y="3090672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Inter"/>
              </a:rPr>
              <a:t>active + history sessions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00800" y="3337560"/>
            <a:ext cx="5303520" cy="457200"/>
          </a:xfrm>
          <a:prstGeom prst="roundRect">
            <a:avLst>
              <a:gd name="adj" fmla="val 15000"/>
            </a:avLst>
          </a:prstGeom>
          <a:solidFill>
            <a:srgbClr val="F5F5F7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83680" y="341071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1A1A"/>
                </a:solidFill>
                <a:latin typeface="Inter"/>
              </a:rPr>
              <a:t>WeightEntries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83680" y="3593592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Inter"/>
              </a:rPr>
              <a:t>weight log + date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400800" y="3840480"/>
            <a:ext cx="5303520" cy="457200"/>
          </a:xfrm>
          <a:prstGeom prst="roundRect">
            <a:avLst>
              <a:gd name="adj" fmla="val 15000"/>
            </a:avLst>
          </a:prstGeom>
          <a:solidFill>
            <a:srgbClr val="FAFAFA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583680" y="391363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1A1A"/>
                </a:solidFill>
                <a:latin typeface="Inter"/>
              </a:rPr>
              <a:t>UserProfiles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83680" y="4096512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Inter"/>
              </a:rPr>
              <a:t>TDEE + goal + biometrics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400800" y="4343400"/>
            <a:ext cx="5303520" cy="457200"/>
          </a:xfrm>
          <a:prstGeom prst="roundRect">
            <a:avLst>
              <a:gd name="adj" fmla="val 15000"/>
            </a:avLst>
          </a:prstGeom>
          <a:solidFill>
            <a:srgbClr val="F5F5F7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83680" y="441655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1A1A"/>
                </a:solidFill>
                <a:latin typeface="Inter"/>
              </a:rPr>
              <a:t>ImageHashCache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83680" y="4599432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Inter"/>
              </a:rPr>
              <a:t>AI dedup (avoid re-recognize)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400800" y="4846320"/>
            <a:ext cx="5303520" cy="457200"/>
          </a:xfrm>
          <a:prstGeom prst="roundRect">
            <a:avLst>
              <a:gd name="adj" fmla="val 15000"/>
            </a:avLst>
          </a:prstGeom>
          <a:solidFill>
            <a:srgbClr val="FAFAFA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583680" y="491947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1A1A"/>
                </a:solidFill>
                <a:latin typeface="Inter"/>
              </a:rPr>
              <a:t>PendingSyncEntries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83680" y="5102352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Inter"/>
              </a:rPr>
              <a:t>offline → cloud queue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57200" y="5440680"/>
            <a:ext cx="11247120" cy="868680"/>
          </a:xfrm>
          <a:prstGeom prst="roundRect">
            <a:avLst>
              <a:gd name="adj" fmla="val 6000"/>
            </a:avLst>
          </a:prstGeom>
          <a:solidFill>
            <a:srgbClr val="F5F5F7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0080" y="55321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FF6B35"/>
                </a:solidFill>
                <a:latin typeface="Inter"/>
              </a:rPr>
              <a:t>DATA FLOW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0080" y="58064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1A1A"/>
                </a:solidFill>
                <a:latin typeface="Inter"/>
              </a:rPr>
              <a:t>Capture</a:t>
            </a:r>
            <a:r>
              <a:rPr sz="1200" b="0">
                <a:solidFill>
                  <a:srgbClr val="6B6B6B"/>
                </a:solidFill>
                <a:latin typeface="Inter"/>
              </a:rPr>
              <a:t> → AI Gateway → </a:t>
            </a:r>
            <a:r>
              <a:rPr sz="1200" b="1">
                <a:solidFill>
                  <a:srgbClr val="FF6B35"/>
                </a:solidFill>
                <a:latin typeface="Inter"/>
              </a:rPr>
              <a:t>Drift (local)</a:t>
            </a:r>
            <a:r>
              <a:rPr sz="1200" b="0">
                <a:solidFill>
                  <a:srgbClr val="6B6B6B"/>
                </a:solidFill>
                <a:latin typeface="Inter"/>
              </a:rPr>
              <a:t> → </a:t>
            </a:r>
            <a:r>
              <a:rPr sz="1200" b="1">
                <a:solidFill>
                  <a:srgbClr val="00C896"/>
                </a:solidFill>
                <a:latin typeface="Inter"/>
              </a:rPr>
              <a:t>PocketBase (cloud)</a:t>
            </a:r>
            <a:r>
              <a:rPr sz="1100" b="0">
                <a:solidFill>
                  <a:srgbClr val="6B6B6B"/>
                </a:solidFill>
                <a:latin typeface="Inter"/>
              </a:rPr>
              <a:t>  ·  3-tier barcode cache: in-memory → PB → OFF (anonymous read)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A0A0A0"/>
                </a:solidFill>
                <a:latin typeface="Inter"/>
              </a:rPr>
              <a:t>NutriTrack · Status Report · 2026-07-08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A0A0A0"/>
                </a:solidFill>
                <a:latin typeface="Inter"/>
              </a:rP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FF6B35"/>
                </a:solidFill>
                <a:latin typeface="Inter"/>
              </a:rPr>
              <a:t>SECTION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A1A1A"/>
                </a:solidFill>
                <a:latin typeface="Inter"/>
              </a:rPr>
              <a:t>Current Task Status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B6B6B"/>
                </a:solidFill>
                <a:latin typeface="Inter"/>
              </a:rPr>
              <a:t>What's done, what's in progress, what's blocked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3703320" cy="4572000"/>
          </a:xfrm>
          <a:prstGeom prst="roundRect">
            <a:avLst>
              <a:gd name="adj" fmla="val 6000"/>
            </a:avLst>
          </a:prstGeom>
          <a:solidFill>
            <a:srgbClr val="FAFAFA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109728" cy="457200"/>
          </a:xfrm>
          <a:prstGeom prst="rect">
            <a:avLst/>
          </a:prstGeom>
          <a:solidFill>
            <a:srgbClr val="00C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5448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00C896"/>
                </a:solidFill>
                <a:latin typeface="Inter"/>
              </a:rPr>
              <a:t>DONE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155448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>
                <a:solidFill>
                  <a:srgbClr val="00C896"/>
                </a:solidFill>
                <a:latin typeface="Inter"/>
              </a:rPr>
              <a:t>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01168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00C896"/>
                </a:solidFill>
                <a:latin typeface="Inter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01168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A"/>
                </a:solidFill>
                <a:latin typeface="Inter"/>
              </a:rPr>
              <a:t>Drift migration (Isar removed)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322576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00C896"/>
                </a:solidFill>
                <a:latin typeface="Inter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322576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A"/>
                </a:solidFill>
                <a:latin typeface="Inter"/>
              </a:rPr>
              <a:t>PB schema live (9 collections)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633472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00C896"/>
                </a:solidFill>
                <a:latin typeface="Inter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2633472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A"/>
                </a:solidFill>
                <a:latin typeface="Inter"/>
              </a:rPr>
              <a:t>46 chest exercises seeded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2944368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00C896"/>
                </a:solidFill>
                <a:latin typeface="Inter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944368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A"/>
                </a:solidFill>
                <a:latin typeface="Inter"/>
              </a:rPr>
              <a:t>AI gateway architecture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255264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00C896"/>
                </a:solidFill>
                <a:latin typeface="Inter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3255264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A"/>
                </a:solidFill>
                <a:latin typeface="Inter"/>
              </a:rPr>
              <a:t>Drift codegen working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56616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00C896"/>
                </a:solidFill>
                <a:latin typeface="Inter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356616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A"/>
                </a:solidFill>
                <a:latin typeface="Inter"/>
              </a:rPr>
              <a:t>Brand identity (icon, palette)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3877056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00C896"/>
                </a:solidFill>
                <a:latin typeface="Inter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3877056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A"/>
                </a:solidFill>
                <a:latin typeface="Inter"/>
              </a:rPr>
              <a:t>Brand exports (iOS/Android/Web)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187952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00C896"/>
                </a:solidFill>
                <a:latin typeface="Inter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4187952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A"/>
                </a:solidFill>
                <a:latin typeface="Inter"/>
              </a:rPr>
              <a:t>KNOWN_WARNINGS.md written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498848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00C896"/>
                </a:solidFill>
                <a:latin typeface="Inter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4498848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A"/>
                </a:solidFill>
                <a:latin typeface="Inter"/>
              </a:rPr>
              <a:t>Gradle 8.14.0 + AGP 8.11.1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4809744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00C896"/>
                </a:solidFill>
                <a:latin typeface="Inter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4809744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A"/>
                </a:solidFill>
                <a:latin typeface="Inter"/>
              </a:rPr>
              <a:t>record 5.1.2 pin (Linux iface)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12064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00C896"/>
                </a:solidFill>
                <a:latin typeface="Inter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" y="512064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A"/>
                </a:solidFill>
                <a:latin typeface="Inter"/>
              </a:rPr>
              <a:t>health plugin removed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5431536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00C896"/>
                </a:solidFill>
                <a:latin typeface="Inter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" y="5431536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A"/>
                </a:solidFill>
                <a:latin typeface="Inter"/>
              </a:rPr>
              <a:t>media/ golden-source structure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97680" y="1463040"/>
            <a:ext cx="3703320" cy="4572000"/>
          </a:xfrm>
          <a:prstGeom prst="roundRect">
            <a:avLst>
              <a:gd name="adj" fmla="val 6000"/>
            </a:avLst>
          </a:prstGeom>
          <a:solidFill>
            <a:srgbClr val="FAFAFA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297680" y="1463040"/>
            <a:ext cx="109728" cy="45720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17720" y="155448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FF6B35"/>
                </a:solidFill>
                <a:latin typeface="Inter"/>
              </a:rPr>
              <a:t>IN PROGRESS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155448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>
                <a:solidFill>
                  <a:srgbClr val="FF6B35"/>
                </a:solidFill>
                <a:latin typeface="Inter"/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17720" y="201168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6B35"/>
                </a:solidFill>
                <a:latin typeface="Inter"/>
              </a:rPr>
              <a:t>⟳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46320" y="201168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A"/>
                </a:solidFill>
                <a:latin typeface="Inter"/>
              </a:rPr>
              <a:t>Audit doc v2 (PRODUCTION_READINESS)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17720" y="246888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6B35"/>
                </a:solidFill>
                <a:latin typeface="Inter"/>
              </a:rPr>
              <a:t>⟳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46320" y="246888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A"/>
                </a:solidFill>
                <a:latin typeface="Inter"/>
              </a:rPr>
              <a:t>Strategy doc (WHAT_MISSING)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17720" y="292608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6B35"/>
                </a:solidFill>
                <a:latin typeface="Inter"/>
              </a:rPr>
              <a:t>⟳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46320" y="292608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A"/>
                </a:solidFill>
                <a:latin typeface="Inter"/>
              </a:rPr>
              <a:t>Major-version debt tracking (§6)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138160" y="1463040"/>
            <a:ext cx="3703320" cy="4572000"/>
          </a:xfrm>
          <a:prstGeom prst="roundRect">
            <a:avLst>
              <a:gd name="adj" fmla="val 6000"/>
            </a:avLst>
          </a:prstGeom>
          <a:solidFill>
            <a:srgbClr val="FAFAFA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138160" y="1463040"/>
            <a:ext cx="109728" cy="457200"/>
          </a:xfrm>
          <a:prstGeom prst="rect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58200" y="155448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E53935"/>
                </a:solidFill>
                <a:latin typeface="Inter"/>
              </a:rPr>
              <a:t>BLOCKED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98480" y="155448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>
                <a:solidFill>
                  <a:srgbClr val="E53935"/>
                </a:solidFill>
                <a:latin typeface="Inter"/>
              </a:rPr>
              <a:t>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58200" y="201168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53935"/>
                </a:solidFill>
                <a:latin typeface="Inter"/>
              </a:rPr>
              <a:t>✗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86800" y="20116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A1A1A"/>
                </a:solidFill>
                <a:latin typeface="Inter"/>
              </a:rPr>
              <a:t>Android compile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86800" y="2267712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Inter"/>
              </a:rPr>
              <a:t>31 errors in 2 files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58200" y="278892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53935"/>
                </a:solidFill>
                <a:latin typeface="Inter"/>
              </a:rPr>
              <a:t>✗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86800" y="27889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A1A1A"/>
                </a:solidFill>
                <a:latin typeface="Inter"/>
              </a:rPr>
              <a:t>First device run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86800" y="3044952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Inter"/>
              </a:rPr>
              <a:t>no working APK/IPA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58200" y="356616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53935"/>
                </a:solidFill>
                <a:latin typeface="Inter"/>
              </a:rPr>
              <a:t>✗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686800" y="35661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A1A1A"/>
                </a:solidFill>
                <a:latin typeface="Inter"/>
              </a:rPr>
              <a:t>Insights screen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86800" y="3822192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Inter"/>
              </a:rPr>
              <a:t>renders fake sample data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458200" y="434340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53935"/>
                </a:solidFill>
                <a:latin typeface="Inter"/>
              </a:rPr>
              <a:t>✗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686800" y="43434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A1A1A"/>
                </a:solidFill>
                <a:latin typeface="Inter"/>
              </a:rPr>
              <a:t>Workout session UI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686800" y="4599432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Inter"/>
              </a:rPr>
              <a:t>no active-session flow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58200" y="512064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E53935"/>
                </a:solidFill>
                <a:latin typeface="Inter"/>
              </a:rPr>
              <a:t>✗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686800" y="51206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A1A1A"/>
                </a:solidFill>
                <a:latin typeface="Inter"/>
              </a:rPr>
              <a:t>Onboarding flow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686800" y="5376672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Inter"/>
              </a:rPr>
              <a:t>no /onboarding route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57200" y="6126480"/>
            <a:ext cx="11247120" cy="457200"/>
          </a:xfrm>
          <a:prstGeom prst="roundRect">
            <a:avLst>
              <a:gd name="adj" fmla="val 6000"/>
            </a:avLst>
          </a:prstGeom>
          <a:solidFill>
            <a:srgbClr val="F5F5F7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40080" y="6199632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FF6B35"/>
                </a:solidFill>
                <a:latin typeface="Inter"/>
              </a:rPr>
              <a:t>VELOCITY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554480" y="6199632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A1A1A"/>
                </a:solidFill>
                <a:latin typeface="Inter"/>
              </a:rPr>
              <a:t>9 commits in last 7 days · ~3 commits/day · clear blockers to unblock more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A0A0A0"/>
                </a:solidFill>
                <a:latin typeface="Inter"/>
              </a:rPr>
              <a:t>NutriTrack · Status Report · 2026-07-08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A0A0A0"/>
                </a:solidFill>
                <a:latin typeface="Inter"/>
              </a:rPr>
              <a:t>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FF6B35"/>
                </a:solidFill>
                <a:latin typeface="Inter"/>
              </a:rPr>
              <a:t>SECTION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A1A1A"/>
                </a:solidFill>
                <a:latin typeface="Inter"/>
              </a:rPr>
              <a:t>UX Status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B6B6B"/>
                </a:solidFill>
                <a:latin typeface="Inter"/>
              </a:rPr>
              <a:t>What users would see today if the app compiled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2743200" cy="1554480"/>
          </a:xfrm>
          <a:prstGeom prst="roundRect">
            <a:avLst>
              <a:gd name="adj" fmla="val 6000"/>
            </a:avLst>
          </a:prstGeom>
          <a:solidFill>
            <a:srgbClr val="FAFAFA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002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A0A0A0"/>
                </a:solidFill>
                <a:latin typeface="Inter"/>
              </a:rPr>
              <a:t>SCREENS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7452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600" b="1">
                <a:solidFill>
                  <a:srgbClr val="00C896"/>
                </a:solidFill>
                <a:latin typeface="Inter"/>
              </a:rPr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6888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>
                <a:solidFill>
                  <a:srgbClr val="6B6B6B"/>
                </a:solidFill>
                <a:latin typeface="Inter"/>
              </a:rPr>
              <a:t>dashboard, workout,</a:t>
            </a:r>
          </a:p>
          <a:p>
            <a:pPr algn="ctr">
              <a:lnSpc>
                <a:spcPct val="130000"/>
              </a:lnSpc>
            </a:pPr>
            <a:r>
              <a:rPr sz="1000" b="0">
                <a:solidFill>
                  <a:srgbClr val="6B6B6B"/>
                </a:solidFill>
                <a:latin typeface="Inter"/>
              </a:rPr>
              <a:t>insights, settings,</a:t>
            </a:r>
          </a:p>
          <a:p>
            <a:pPr algn="ctr">
              <a:lnSpc>
                <a:spcPct val="130000"/>
              </a:lnSpc>
            </a:pPr>
            <a:r>
              <a:rPr sz="1000" b="0">
                <a:solidFill>
                  <a:srgbClr val="6B6B6B"/>
                </a:solidFill>
                <a:latin typeface="Inter"/>
              </a:rPr>
              <a:t>camera, barcode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463040"/>
            <a:ext cx="2743200" cy="1554480"/>
          </a:xfrm>
          <a:prstGeom prst="roundRect">
            <a:avLst>
              <a:gd name="adj" fmla="val 6000"/>
            </a:avLst>
          </a:prstGeom>
          <a:solidFill>
            <a:srgbClr val="FAFAFA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37560" y="16002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A0A0A0"/>
                </a:solidFill>
                <a:latin typeface="Inter"/>
              </a:rPr>
              <a:t>WIRED TO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187452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600" b="1">
                <a:solidFill>
                  <a:srgbClr val="E53935"/>
                </a:solidFill>
                <a:latin typeface="Inter"/>
              </a:rPr>
              <a:t>1 of 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46888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>
                <a:solidFill>
                  <a:srgbClr val="6B6B6B"/>
                </a:solidFill>
                <a:latin typeface="Inter"/>
              </a:rPr>
              <a:t>5 of 6 screens render</a:t>
            </a:r>
          </a:p>
          <a:p>
            <a:pPr algn="ctr">
              <a:lnSpc>
                <a:spcPct val="130000"/>
              </a:lnSpc>
            </a:pPr>
            <a:r>
              <a:rPr sz="1000" b="0">
                <a:solidFill>
                  <a:srgbClr val="6B6B6B"/>
                </a:solidFill>
                <a:latin typeface="Inter"/>
              </a:rPr>
              <a:t>placeholder / sample data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463040"/>
            <a:ext cx="2743200" cy="1554480"/>
          </a:xfrm>
          <a:prstGeom prst="roundRect">
            <a:avLst>
              <a:gd name="adj" fmla="val 6000"/>
            </a:avLst>
          </a:prstGeom>
          <a:solidFill>
            <a:srgbClr val="FAFAFA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6002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A0A0A0"/>
                </a:solidFill>
                <a:latin typeface="Inter"/>
              </a:rPr>
              <a:t>EMPTY STATES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187452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600" b="1">
                <a:solidFill>
                  <a:srgbClr val="E53935"/>
                </a:solidFill>
                <a:latin typeface="Inter"/>
              </a:rP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46888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>
                <a:solidFill>
                  <a:srgbClr val="6B6B6B"/>
                </a:solidFill>
                <a:latin typeface="Inter"/>
              </a:rPr>
              <a:t>no `shimmer`, no</a:t>
            </a:r>
          </a:p>
          <a:p>
            <a:pPr algn="ctr">
              <a:lnSpc>
                <a:spcPct val="130000"/>
              </a:lnSpc>
            </a:pPr>
            <a:r>
              <a:rPr sz="1000" b="0">
                <a:solidFill>
                  <a:srgbClr val="6B6B6B"/>
                </a:solidFill>
                <a:latin typeface="Inter"/>
              </a:rPr>
              <a:t>empty-state illustrations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98280" y="1463040"/>
            <a:ext cx="2743200" cy="1554480"/>
          </a:xfrm>
          <a:prstGeom prst="roundRect">
            <a:avLst>
              <a:gd name="adj" fmla="val 6000"/>
            </a:avLst>
          </a:prstGeom>
          <a:solidFill>
            <a:srgbClr val="FAFAFA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98280" y="16002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A0A0A0"/>
                </a:solidFill>
                <a:latin typeface="Inter"/>
              </a:rPr>
              <a:t>MOTION + HAPTIC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8280" y="187452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600" b="1">
                <a:solidFill>
                  <a:srgbClr val="FFB627"/>
                </a:solidFill>
                <a:latin typeface="Inter"/>
              </a:rPr>
              <a:t>minimal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60" y="246888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>
                <a:solidFill>
                  <a:srgbClr val="6B6B6B"/>
                </a:solidFill>
                <a:latin typeface="Inter"/>
              </a:rPr>
              <a:t>app_motion exists</a:t>
            </a:r>
          </a:p>
          <a:p>
            <a:pPr algn="ctr">
              <a:lnSpc>
                <a:spcPct val="130000"/>
              </a:lnSpc>
            </a:pPr>
            <a:r>
              <a:rPr sz="1000" b="0">
                <a:solidFill>
                  <a:srgbClr val="6B6B6B"/>
                </a:solidFill>
                <a:latin typeface="Inter"/>
              </a:rPr>
              <a:t>but underused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246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FF6B35"/>
                </a:solidFill>
                <a:latin typeface="Inter"/>
              </a:rPr>
              <a:t>SCREEN-BY-SCREEN UX READINESS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657600"/>
            <a:ext cx="11247120" cy="365760"/>
          </a:xfrm>
          <a:prstGeom prst="roundRect">
            <a:avLst>
              <a:gd name="adj" fmla="val 20000"/>
            </a:avLst>
          </a:prstGeom>
          <a:solidFill>
            <a:srgbClr val="FAFAFA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72160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1A1A"/>
                </a:solidFill>
                <a:latin typeface="Inter"/>
              </a:rPr>
              <a:t>Dashboard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60320" y="372160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00C896"/>
                </a:solidFill>
                <a:latin typeface="Inter"/>
              </a:rPr>
              <a:t>✓ real data wiring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372160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E53935"/>
                </a:solidFill>
                <a:latin typeface="Inter"/>
              </a:rPr>
              <a:t>✗ fake data, no onboarding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069080"/>
            <a:ext cx="11247120" cy="365760"/>
          </a:xfrm>
          <a:prstGeom prst="roundRect">
            <a:avLst>
              <a:gd name="adj" fmla="val 20000"/>
            </a:avLst>
          </a:prstGeom>
          <a:solidFill>
            <a:srgbClr val="F5F5F7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413308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1A1A"/>
                </a:solidFill>
                <a:latin typeface="Inter"/>
              </a:rPr>
              <a:t>Workout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60320" y="413308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00C896"/>
                </a:solidFill>
                <a:latin typeface="Inter"/>
              </a:rPr>
              <a:t>✓ search working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413308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E53935"/>
                </a:solidFill>
                <a:latin typeface="Inter"/>
              </a:rPr>
              <a:t>✗ no session UI, no rest timer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4480560"/>
            <a:ext cx="11247120" cy="365760"/>
          </a:xfrm>
          <a:prstGeom prst="roundRect">
            <a:avLst>
              <a:gd name="adj" fmla="val 20000"/>
            </a:avLst>
          </a:prstGeom>
          <a:solidFill>
            <a:srgbClr val="FAFAFA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454456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1A1A"/>
                </a:solidFill>
                <a:latin typeface="Inter"/>
              </a:rPr>
              <a:t>Insights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60320" y="454456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00C896"/>
                </a:solidFill>
                <a:latin typeface="Inter"/>
              </a:rPr>
              <a:t>✓ fl_chart present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454456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E53935"/>
                </a:solidFill>
                <a:latin typeface="Inter"/>
              </a:rPr>
              <a:t>✗ renders `_generateSampleWeights()`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4892040"/>
            <a:ext cx="11247120" cy="365760"/>
          </a:xfrm>
          <a:prstGeom prst="roundRect">
            <a:avLst>
              <a:gd name="adj" fmla="val 20000"/>
            </a:avLst>
          </a:prstGeom>
          <a:solidFill>
            <a:srgbClr val="F5F5F7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495604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1A1A"/>
                </a:solidFill>
                <a:latin typeface="Inter"/>
              </a:rPr>
              <a:t>Settings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60320" y="495604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00C896"/>
                </a:solidFill>
                <a:latin typeface="Inter"/>
              </a:rPr>
              <a:t>✓ TDEE wizard OK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495604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FFB627"/>
                </a:solidFill>
                <a:latin typeface="Inter"/>
              </a:rPr>
              <a:t>✗ no first-launch gate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5303520"/>
            <a:ext cx="11247120" cy="365760"/>
          </a:xfrm>
          <a:prstGeom prst="roundRect">
            <a:avLst>
              <a:gd name="adj" fmla="val 20000"/>
            </a:avLst>
          </a:prstGeom>
          <a:solidFill>
            <a:srgbClr val="FAFAFA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536752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1A1A"/>
                </a:solidFill>
                <a:latin typeface="Inter"/>
              </a:rPr>
              <a:t>Camera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560320" y="536752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00C896"/>
                </a:solidFill>
                <a:latin typeface="Inter"/>
              </a:rPr>
              <a:t>✓ build broken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0" y="536752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E53935"/>
                </a:solidFill>
                <a:latin typeface="Inter"/>
              </a:rPr>
              <a:t>✗ 31 compile errors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" y="5715000"/>
            <a:ext cx="11247120" cy="365760"/>
          </a:xfrm>
          <a:prstGeom prst="roundRect">
            <a:avLst>
              <a:gd name="adj" fmla="val 20000"/>
            </a:avLst>
          </a:prstGeom>
          <a:solidFill>
            <a:srgbClr val="F5F5F7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" y="577900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1A1A"/>
                </a:solidFill>
                <a:latin typeface="Inter"/>
              </a:rPr>
              <a:t>Barcode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560320" y="577900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00C896"/>
                </a:solidFill>
                <a:latin typeface="Inter"/>
              </a:rPr>
              <a:t>✓ build broken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0" y="577900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E53935"/>
                </a:solidFill>
                <a:latin typeface="Inter"/>
              </a:rPr>
              <a:t>✗ RRect.topLeft undefined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A0A0A0"/>
                </a:solidFill>
                <a:latin typeface="Inter"/>
              </a:rPr>
              <a:t>NutriTrack · Status Report · 2026-07-08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A0A0A0"/>
                </a:solidFill>
                <a:latin typeface="Inter"/>
              </a:rP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FF6B35"/>
                </a:solidFill>
                <a:latin typeface="Inter"/>
              </a:rPr>
              <a:t>SECTION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A1A1A"/>
                </a:solidFill>
                <a:latin typeface="Inter"/>
              </a:rPr>
              <a:t>Performance Suggestions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B6B6B"/>
                </a:solidFill>
                <a:latin typeface="Inter"/>
              </a:rPr>
              <a:t>What to fix before users notice the lag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17320"/>
            <a:ext cx="11247120" cy="548640"/>
          </a:xfrm>
          <a:prstGeom prst="roundRect">
            <a:avLst>
              <a:gd name="adj" fmla="val 20000"/>
            </a:avLst>
          </a:prstGeom>
          <a:solidFill>
            <a:srgbClr val="FAFAFA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150876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0C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536192"/>
            <a:ext cx="365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6EE"/>
                </a:solidFill>
                <a:latin typeface="Inter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4630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1A1A"/>
                </a:solidFill>
                <a:latin typeface="Inter"/>
              </a:rPr>
              <a:t>Skeleton loaders on every list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673352"/>
            <a:ext cx="6858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Inter"/>
              </a:rPr>
              <a:t>Dashboard tiles, exercise search, history, insights charts all flash empty→full. Add shimmer widgets.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150876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1A1A1A"/>
                </a:solidFill>
                <a:latin typeface="Inter"/>
              </a:rPr>
              <a:t>~4 hours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15087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00C896"/>
                </a:solidFill>
                <a:latin typeface="Inter"/>
              </a:rPr>
              <a:t>BIG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011680"/>
            <a:ext cx="11247120" cy="548640"/>
          </a:xfrm>
          <a:prstGeom prst="roundRect">
            <a:avLst>
              <a:gd name="adj" fmla="val 20000"/>
            </a:avLst>
          </a:prstGeom>
          <a:solidFill>
            <a:srgbClr val="F5F5F7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94360" y="210312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130552"/>
            <a:ext cx="365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6EE"/>
                </a:solidFill>
                <a:latin typeface="Inter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205740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1A1A"/>
                </a:solidFill>
                <a:latin typeface="Inter"/>
              </a:rPr>
              <a:t>RepaintBoundary around MacroDonut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2267712"/>
            <a:ext cx="6858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Inter"/>
              </a:rPr>
              <a:t>Already added in earlier commit. Verify on real device — fl_chart redraws on every frame otherwise.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10312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1A1A1A"/>
                </a:solidFill>
                <a:latin typeface="Inter"/>
              </a:rPr>
              <a:t>~1 hour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21031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FFB627"/>
                </a:solidFill>
                <a:latin typeface="Inter"/>
              </a:rPr>
              <a:t>MED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2606040"/>
            <a:ext cx="11247120" cy="548640"/>
          </a:xfrm>
          <a:prstGeom prst="roundRect">
            <a:avLst>
              <a:gd name="adj" fmla="val 20000"/>
            </a:avLst>
          </a:prstGeom>
          <a:solidFill>
            <a:srgbClr val="FAFAFA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94360" y="269748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2724912"/>
            <a:ext cx="365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6EE"/>
                </a:solidFill>
                <a:latin typeface="Inter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2651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1A1A"/>
                </a:solidFill>
                <a:latin typeface="Inter"/>
              </a:rPr>
              <a:t>Cache Network images (cached_network_image)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2862072"/>
            <a:ext cx="6858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Inter"/>
              </a:rPr>
              <a:t>Barcode images already wrapped. Apply same pattern to food images from OFF / PB.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269748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1A1A1A"/>
                </a:solidFill>
                <a:latin typeface="Inter"/>
              </a:rPr>
              <a:t>~2 hours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26974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FFB627"/>
                </a:solidFill>
                <a:latin typeface="Inter"/>
              </a:rPr>
              <a:t>MED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3200400"/>
            <a:ext cx="11247120" cy="548640"/>
          </a:xfrm>
          <a:prstGeom prst="roundRect">
            <a:avLst>
              <a:gd name="adj" fmla="val 20000"/>
            </a:avLst>
          </a:prstGeom>
          <a:solidFill>
            <a:srgbClr val="F5F5F7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94360" y="329184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3319272"/>
            <a:ext cx="365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6EE"/>
                </a:solidFill>
                <a:latin typeface="Inter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324612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1A1A"/>
                </a:solidFill>
                <a:latin typeface="Inter"/>
              </a:rPr>
              <a:t>Lazy-load PB collections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3456432"/>
            <a:ext cx="6858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Inter"/>
              </a:rPr>
              <a:t>Currently FoodLogRepository fetches full day on every screen mount. Use Drift streams (watchByDate) instead of getByDate.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32918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1A1A1A"/>
                </a:solidFill>
                <a:latin typeface="Inter"/>
              </a:rPr>
              <a:t>~3 hours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32918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FF6B35"/>
                </a:solidFill>
                <a:latin typeface="Inter"/>
              </a:rPr>
              <a:t>BIG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3794760"/>
            <a:ext cx="11247120" cy="548640"/>
          </a:xfrm>
          <a:prstGeom prst="roundRect">
            <a:avLst>
              <a:gd name="adj" fmla="val 20000"/>
            </a:avLst>
          </a:prstGeom>
          <a:solidFill>
            <a:srgbClr val="FAFAFA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94360" y="388620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0C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4360" y="3913632"/>
            <a:ext cx="365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6EE"/>
                </a:solidFill>
                <a:latin typeface="Inter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" y="3840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1A1A"/>
                </a:solidFill>
                <a:latin typeface="Inter"/>
              </a:rPr>
              <a:t>Profile-mode build for production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" y="4050792"/>
            <a:ext cx="6858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Inter"/>
              </a:rPr>
              <a:t>flutter build apk --release --obfuscate --split-debug-info=debug/. Cuts ~30% APK size.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0" y="38862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1A1A1A"/>
                </a:solidFill>
                <a:latin typeface="Inter"/>
              </a:rPr>
              <a:t>~30 min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38862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00C896"/>
                </a:solidFill>
                <a:latin typeface="Inter"/>
              </a:rPr>
              <a:t>QUICK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4389120"/>
            <a:ext cx="11247120" cy="548640"/>
          </a:xfrm>
          <a:prstGeom prst="roundRect">
            <a:avLst>
              <a:gd name="adj" fmla="val 20000"/>
            </a:avLst>
          </a:prstGeom>
          <a:solidFill>
            <a:srgbClr val="F5F5F7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594360" y="448056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94360" y="4507992"/>
            <a:ext cx="365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6EE"/>
                </a:solidFill>
                <a:latin typeface="Inter"/>
              </a:rPr>
              <a:t>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" y="44348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1A1A"/>
                </a:solidFill>
                <a:latin typeface="Inter"/>
              </a:rPr>
              <a:t>Image compression before AI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7280" y="4645152"/>
            <a:ext cx="6858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Inter"/>
              </a:rPr>
              <a:t>Camera capture = 2-4 MB JPEG. Resize to 1024px, JPEG quality 85 = ~200 KB. Faster AI upload, lower bandwidth.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0" y="448056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1A1A1A"/>
                </a:solidFill>
                <a:latin typeface="Inter"/>
              </a:rPr>
              <a:t>~2 hours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515600" y="44805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FFB627"/>
                </a:solidFill>
                <a:latin typeface="Inter"/>
              </a:rPr>
              <a:t>MED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57200" y="4983480"/>
            <a:ext cx="11247120" cy="548640"/>
          </a:xfrm>
          <a:prstGeom prst="roundRect">
            <a:avLst>
              <a:gd name="adj" fmla="val 20000"/>
            </a:avLst>
          </a:prstGeom>
          <a:solidFill>
            <a:srgbClr val="FAFAFA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594360" y="507492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94360" y="5102352"/>
            <a:ext cx="365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6EE"/>
                </a:solidFill>
                <a:latin typeface="Inter"/>
              </a:rPr>
              <a:t>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97280" y="502920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1A1A"/>
                </a:solidFill>
                <a:latin typeface="Inter"/>
              </a:rPr>
              <a:t>Skia caching for static content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97280" y="5239512"/>
            <a:ext cx="6858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Inter"/>
              </a:rPr>
              <a:t>macro_donut, wordmark, empty states — wrap in RepaintBoundary or const where possible.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29600" y="507492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1A1A1A"/>
                </a:solidFill>
                <a:latin typeface="Inter"/>
              </a:rPr>
              <a:t>~2 hours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515600" y="50749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FFB627"/>
                </a:solidFill>
                <a:latin typeface="Inter"/>
              </a:rPr>
              <a:t>MED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57200" y="5577840"/>
            <a:ext cx="11247120" cy="548640"/>
          </a:xfrm>
          <a:prstGeom prst="roundRect">
            <a:avLst>
              <a:gd name="adj" fmla="val 20000"/>
            </a:avLst>
          </a:prstGeom>
          <a:solidFill>
            <a:srgbClr val="F5F5F7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594360" y="566928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0C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94360" y="5696712"/>
            <a:ext cx="365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6EE"/>
                </a:solidFill>
                <a:latin typeface="Inter"/>
              </a:rPr>
              <a:t>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97280" y="56235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1A1A"/>
                </a:solidFill>
                <a:latin typeface="Inter"/>
              </a:rPr>
              <a:t>Sync TextEditingController (already done)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97280" y="5833872"/>
            <a:ext cx="6858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Inter"/>
              </a:rPr>
              <a:t>Workout search field — verify no sync creation in build(). You fixed this already. ✓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229600" y="566928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1A1A1A"/>
                </a:solidFill>
                <a:latin typeface="Inter"/>
              </a:rPr>
              <a:t>✓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515600" y="56692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00C896"/>
                </a:solidFill>
                <a:latin typeface="Inter"/>
              </a:rPr>
              <a:t>DONE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A0A0A0"/>
                </a:solidFill>
                <a:latin typeface="Inter"/>
              </a:rPr>
              <a:t>NutriTrack · Status Report · 2026-07-08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A0A0A0"/>
                </a:solidFill>
                <a:latin typeface="Inter"/>
              </a:rP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FF6B35"/>
                </a:solidFill>
                <a:latin typeface="Inter"/>
              </a:rPr>
              <a:t>SECTION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A1A1A"/>
                </a:solidFill>
                <a:latin typeface="Inter"/>
              </a:rPr>
              <a:t>Security Suggestions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B6B6B"/>
                </a:solidFill>
                <a:latin typeface="Inter"/>
              </a:rPr>
              <a:t>What to lock down before the first user logs 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17320"/>
            <a:ext cx="11247120" cy="365760"/>
          </a:xfrm>
          <a:prstGeom prst="roundRect">
            <a:avLst>
              <a:gd name="adj" fmla="val 20000"/>
            </a:avLst>
          </a:prstGeom>
          <a:solidFill>
            <a:srgbClr val="FAFAFA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72184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A1A1A"/>
                </a:solidFill>
                <a:latin typeface="Inter"/>
              </a:rPr>
              <a:t>API keys not in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472184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00C896"/>
                </a:solidFill>
                <a:latin typeface="Inter"/>
              </a:rPr>
              <a:t>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1472184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Inter"/>
              </a:rPr>
              <a:t>OpenRouter key in secrets.dart (template-only today). Never committed.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810512"/>
            <a:ext cx="11247120" cy="365760"/>
          </a:xfrm>
          <a:prstGeom prst="roundRect">
            <a:avLst>
              <a:gd name="adj" fmla="val 20000"/>
            </a:avLst>
          </a:prstGeom>
          <a:solidFill>
            <a:srgbClr val="F5F5F7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865376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A1A1A"/>
                </a:solidFill>
                <a:latin typeface="Inter"/>
              </a:rPr>
              <a:t>Secrets.dart in .gitignore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1865376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00C896"/>
                </a:solidFill>
                <a:latin typeface="Inter"/>
              </a:rPr>
              <a:t>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1865376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Inter"/>
              </a:rPr>
              <a:t>.gitignore line 47: lib/core/config/secrets.dart. Verified.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203704"/>
            <a:ext cx="11247120" cy="365760"/>
          </a:xfrm>
          <a:prstGeom prst="roundRect">
            <a:avLst>
              <a:gd name="adj" fmla="val 20000"/>
            </a:avLst>
          </a:prstGeom>
          <a:solidFill>
            <a:srgbClr val="FAFAFA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258568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A1A1A"/>
                </a:solidFill>
                <a:latin typeface="Inter"/>
              </a:rPr>
              <a:t>PB admin creds in CI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25856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00C896"/>
                </a:solidFill>
                <a:latin typeface="Inter"/>
              </a:rPr>
              <a:t>OK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2258568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Inter"/>
              </a:rPr>
              <a:t>GitHub Actions secrets only. Not in any yml file. Verified.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596896"/>
            <a:ext cx="11247120" cy="365760"/>
          </a:xfrm>
          <a:prstGeom prst="roundRect">
            <a:avLst>
              <a:gd name="adj" fmla="val 20000"/>
            </a:avLst>
          </a:prstGeom>
          <a:solidFill>
            <a:srgbClr val="F5F5F7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65176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A1A1A"/>
                </a:solidFill>
                <a:latin typeface="Inter"/>
              </a:rPr>
              <a:t>Barcode cache: anonymous read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65176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00C896"/>
                </a:solidFill>
                <a:latin typeface="Inter"/>
              </a:rPr>
              <a:t>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2651760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Inter"/>
              </a:rPr>
              <a:t>PB listRule='' → world-readable. Only OFF data, no PII.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2990088"/>
            <a:ext cx="11247120" cy="365760"/>
          </a:xfrm>
          <a:prstGeom prst="roundRect">
            <a:avLst>
              <a:gd name="adj" fmla="val 20000"/>
            </a:avLst>
          </a:prstGeom>
          <a:solidFill>
            <a:srgbClr val="FAFAFA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044952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A1A1A"/>
                </a:solidFill>
                <a:latin typeface="Inter"/>
              </a:rPr>
              <a:t>Crash reporting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3044952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E53935"/>
                </a:solidFill>
                <a:latin typeface="Inter"/>
              </a:rPr>
              <a:t>MISSING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3044952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Inter"/>
              </a:rPr>
              <a:t>No Sentry, no Crashlytics. PII may end up in error logs unfiltered.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383280"/>
            <a:ext cx="11247120" cy="365760"/>
          </a:xfrm>
          <a:prstGeom prst="roundRect">
            <a:avLst>
              <a:gd name="adj" fmla="val 20000"/>
            </a:avLst>
          </a:prstGeom>
          <a:solidFill>
            <a:srgbClr val="F5F5F7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3438144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A1A1A"/>
                </a:solidFill>
                <a:latin typeface="Inter"/>
              </a:rPr>
              <a:t>TLS pinning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3438144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FFB627"/>
                </a:solidFill>
                <a:latin typeface="Inter"/>
              </a:rPr>
              <a:t>MISSING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0" y="3438144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Inter"/>
              </a:rPr>
              <a:t>Dio talks to PB and OpenRouter over HTTPS, but cert pinning not configured. Acceptable for v1; revisit for v2.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3776472"/>
            <a:ext cx="11247120" cy="365760"/>
          </a:xfrm>
          <a:prstGeom prst="roundRect">
            <a:avLst>
              <a:gd name="adj" fmla="val 20000"/>
            </a:avLst>
          </a:prstGeom>
          <a:solidFill>
            <a:srgbClr val="FAFAFA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3831336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A1A1A"/>
                </a:solidFill>
                <a:latin typeface="Inter"/>
              </a:rPr>
              <a:t>Image storage on device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0" y="3831336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FFB627"/>
                </a:solidFill>
                <a:latin typeface="Inter"/>
              </a:rPr>
              <a:t>PARTIAL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0" y="3831336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Inter"/>
              </a:rPr>
              <a:t>Camera captures go to app-private dir (good). But they're never deleted; could leak via forensic tools.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4169664"/>
            <a:ext cx="11247120" cy="365760"/>
          </a:xfrm>
          <a:prstGeom prst="roundRect">
            <a:avLst>
              <a:gd name="adj" fmla="val 20000"/>
            </a:avLst>
          </a:prstGeom>
          <a:solidFill>
            <a:srgbClr val="F5F5F7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4224528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A1A1A"/>
                </a:solidFill>
                <a:latin typeface="Inter"/>
              </a:rPr>
              <a:t>PII in error logs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0" y="4224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E53935"/>
                </a:solidFill>
                <a:latin typeface="Inter"/>
              </a:rPr>
              <a:t>RISK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0" y="4224528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Inter"/>
              </a:rPr>
              <a:t>AppErrorHandler captures PlatformDispatcher.onError — should redact email, weight, food names before logging.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4562856"/>
            <a:ext cx="11247120" cy="365760"/>
          </a:xfrm>
          <a:prstGeom prst="roundRect">
            <a:avLst>
              <a:gd name="adj" fmla="val 20000"/>
            </a:avLst>
          </a:prstGeom>
          <a:solidFill>
            <a:srgbClr val="FAFAFA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461772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A1A1A"/>
                </a:solidFill>
                <a:latin typeface="Inter"/>
              </a:rPr>
              <a:t>Supabase auth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0" y="46177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FFB627"/>
                </a:solidFill>
                <a:latin typeface="Inter"/>
              </a:rPr>
              <a:t>MISSING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0" y="4617720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Inter"/>
              </a:rPr>
              <a:t>Auth is currently local-only. Once you re-add Supabase, must configure RLS on every table from day 1.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4956048"/>
            <a:ext cx="11247120" cy="365760"/>
          </a:xfrm>
          <a:prstGeom prst="roundRect">
            <a:avLst>
              <a:gd name="adj" fmla="val 20000"/>
            </a:avLst>
          </a:prstGeom>
          <a:solidFill>
            <a:srgbClr val="F5F5F7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5010912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A1A1A"/>
                </a:solidFill>
                <a:latin typeface="Inter"/>
              </a:rPr>
              <a:t>Dependency CVE scan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0" y="5010912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FFB627"/>
                </a:solidFill>
                <a:latin typeface="Inter"/>
              </a:rPr>
              <a:t>MISSING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0" y="5010912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Inter"/>
              </a:rPr>
              <a:t>No automated npm/advisory scan. GitHub Dependabot could enable in 5 minutes.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57200" y="5349240"/>
            <a:ext cx="11247120" cy="365760"/>
          </a:xfrm>
          <a:prstGeom prst="roundRect">
            <a:avLst>
              <a:gd name="adj" fmla="val 20000"/>
            </a:avLst>
          </a:prstGeom>
          <a:solidFill>
            <a:srgbClr val="FAFAFA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" y="5404104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A1A1A"/>
                </a:solidFill>
                <a:latin typeface="Inter"/>
              </a:rPr>
              <a:t>ProGuard / R8 obfuscation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57600" y="5404104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00C896"/>
                </a:solidFill>
                <a:latin typeface="Inter"/>
              </a:rPr>
              <a:t>ENABLED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0" y="5404104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Inter"/>
              </a:rPr>
              <a:t>android/app/build.gradle: minifyEnabled true, shrinkResources true. ✓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57200" y="5742432"/>
            <a:ext cx="11247120" cy="365760"/>
          </a:xfrm>
          <a:prstGeom prst="roundRect">
            <a:avLst>
              <a:gd name="adj" fmla="val 20000"/>
            </a:avLst>
          </a:prstGeom>
          <a:solidFill>
            <a:srgbClr val="F5F5F7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0080" y="5797296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A1A1A"/>
                </a:solidFill>
                <a:latin typeface="Inter"/>
              </a:rPr>
              <a:t>Debug signing for release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57600" y="5797296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E53935"/>
                </a:solidFill>
                <a:latin typeface="Inter"/>
              </a:rPr>
              <a:t>RISK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29200" y="5797296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Inter"/>
              </a:rPr>
              <a:t>build.gradle uses the debug keystore for release builds. Acceptable for early access; MUST replace before public launch.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A0A0A0"/>
                </a:solidFill>
                <a:latin typeface="Inter"/>
              </a:rPr>
              <a:t>NutriTrack · Status Report · 2026-07-08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A0A0A0"/>
                </a:solidFill>
                <a:latin typeface="Inter"/>
              </a:rP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FF6B35"/>
                </a:solidFill>
                <a:latin typeface="Inter"/>
              </a:rPr>
              <a:t>SECTION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A1A1A"/>
                </a:solidFill>
                <a:latin typeface="Inter"/>
              </a:rPr>
              <a:t>UX Suggestions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B6B6B"/>
                </a:solidFill>
                <a:latin typeface="Inter"/>
              </a:rPr>
              <a:t>What separates "functional app" from "delightful app"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17320"/>
            <a:ext cx="11247120" cy="365760"/>
          </a:xfrm>
          <a:prstGeom prst="roundRect">
            <a:avLst>
              <a:gd name="adj" fmla="val 20000"/>
            </a:avLst>
          </a:prstGeom>
          <a:solidFill>
            <a:srgbClr val="FAFAFA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72184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A1A1A"/>
                </a:solidFill>
                <a:latin typeface="Inter"/>
              </a:rPr>
              <a:t>Onboarding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1472184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E53935"/>
                </a:solidFill>
                <a:latin typeface="Inter"/>
              </a:rPr>
              <a:t>MISSING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1472184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Inter"/>
              </a:rPr>
              <a:t>3-screen first-run: welcome → why-we're-different → TDEE wizard. Without it users churn in 30s.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0" y="147218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1A1A1A"/>
                </a:solidFill>
                <a:latin typeface="Inter"/>
              </a:rPr>
              <a:t>2 days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1472184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E53935"/>
                </a:solidFill>
                <a:latin typeface="Inter"/>
              </a:rPr>
              <a:t>CRITICAL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810512"/>
            <a:ext cx="11247120" cy="365760"/>
          </a:xfrm>
          <a:prstGeom prst="roundRect">
            <a:avLst>
              <a:gd name="adj" fmla="val 20000"/>
            </a:avLst>
          </a:prstGeom>
          <a:solidFill>
            <a:srgbClr val="F5F5F7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186537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A1A1A"/>
                </a:solidFill>
                <a:latin typeface="Inter"/>
              </a:rPr>
              <a:t>Empty states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1865376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FF6B35"/>
                </a:solidFill>
                <a:latin typeface="Inter"/>
              </a:rPr>
              <a:t>MISSING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1865376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Inter"/>
              </a:rPr>
              <a:t>Every screen needs a 'nothing here yet' moment with personality + a CTA. 8 illustrations needed.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1865376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1A1A1A"/>
                </a:solidFill>
                <a:latin typeface="Inter"/>
              </a:rPr>
              <a:t>1 day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1865376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FF6B35"/>
                </a:solidFill>
                <a:latin typeface="Inter"/>
              </a:rPr>
              <a:t>HIGH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203704"/>
            <a:ext cx="11247120" cy="365760"/>
          </a:xfrm>
          <a:prstGeom prst="roundRect">
            <a:avLst>
              <a:gd name="adj" fmla="val 20000"/>
            </a:avLst>
          </a:prstGeom>
          <a:solidFill>
            <a:srgbClr val="FAFAFA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25856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A1A1A"/>
                </a:solidFill>
                <a:latin typeface="Inter"/>
              </a:rPr>
              <a:t>Haptic feedback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68880" y="225856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FFB627"/>
                </a:solidFill>
                <a:latin typeface="Inter"/>
              </a:rPr>
              <a:t>PARTIAL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39" y="2258568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Inter"/>
              </a:rPr>
              <a:t>HapticFeedback.mediumImpact on meal log, workout complete, set save. iOS-native feel.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225856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1A1A1A"/>
                </a:solidFill>
                <a:latin typeface="Inter"/>
              </a:rPr>
              <a:t>2 hours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2258568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FFB627"/>
                </a:solidFill>
                <a:latin typeface="Inter"/>
              </a:rPr>
              <a:t>MED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2596896"/>
            <a:ext cx="11247120" cy="365760"/>
          </a:xfrm>
          <a:prstGeom prst="roundRect">
            <a:avLst>
              <a:gd name="adj" fmla="val 20000"/>
            </a:avLst>
          </a:prstGeom>
          <a:solidFill>
            <a:srgbClr val="F5F5F7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26517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A1A1A"/>
                </a:solidFill>
                <a:latin typeface="Inter"/>
              </a:rPr>
              <a:t>Sound design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68880" y="265176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FFB627"/>
                </a:solidFill>
                <a:latin typeface="Inter"/>
              </a:rPr>
              <a:t>MISSING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49039" y="265176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Inter"/>
              </a:rPr>
              <a:t>Swoosh on log, bell on workout complete. just_audio already in pubspec, just unused.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26517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1A1A1A"/>
                </a:solidFill>
                <a:latin typeface="Inter"/>
              </a:rPr>
              <a:t>4 hours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265176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FFB627"/>
                </a:solidFill>
                <a:latin typeface="Inter"/>
              </a:rPr>
              <a:t>MED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2990088"/>
            <a:ext cx="11247120" cy="365760"/>
          </a:xfrm>
          <a:prstGeom prst="roundRect">
            <a:avLst>
              <a:gd name="adj" fmla="val 20000"/>
            </a:avLst>
          </a:prstGeom>
          <a:solidFill>
            <a:srgbClr val="FAFAFA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304495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A1A1A"/>
                </a:solidFill>
                <a:latin typeface="Inter"/>
              </a:rPr>
              <a:t>Streaks + badges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68880" y="3044952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FF6B35"/>
                </a:solidFill>
                <a:latin typeface="Inter"/>
              </a:rPr>
              <a:t>MISSING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49039" y="3044952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Inter"/>
              </a:rPr>
              <a:t>5-day logging streak, 7-day protein goal hit. Duolingo's #1 retention mechanism. Pure motivation.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52560" y="304495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1A1A1A"/>
                </a:solidFill>
                <a:latin typeface="Inter"/>
              </a:rPr>
              <a:t>3 days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304495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FF6B35"/>
                </a:solidFill>
                <a:latin typeface="Inter"/>
              </a:rPr>
              <a:t>HIGH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3383280"/>
            <a:ext cx="11247120" cy="365760"/>
          </a:xfrm>
          <a:prstGeom prst="roundRect">
            <a:avLst>
              <a:gd name="adj" fmla="val 20000"/>
            </a:avLst>
          </a:prstGeom>
          <a:solidFill>
            <a:srgbClr val="F5F5F7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3438144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A1A1A"/>
                </a:solidFill>
                <a:latin typeface="Inter"/>
              </a:rPr>
              <a:t>Pull-to-refresh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468880" y="3438144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00C896"/>
                </a:solidFill>
                <a:latin typeface="Inter"/>
              </a:rPr>
              <a:t>MISSING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49039" y="3438144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Inter"/>
              </a:rPr>
              <a:t>Dashboard re-aggregates. Insights re-queries. Standard mobile pattern.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52560" y="343814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1A1A1A"/>
                </a:solidFill>
                <a:latin typeface="Inter"/>
              </a:rPr>
              <a:t>2 hours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3438144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00C896"/>
                </a:solidFill>
                <a:latin typeface="Inter"/>
              </a:rPr>
              <a:t>LOW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3776472"/>
            <a:ext cx="11247120" cy="365760"/>
          </a:xfrm>
          <a:prstGeom prst="roundRect">
            <a:avLst>
              <a:gd name="adj" fmla="val 20000"/>
            </a:avLst>
          </a:prstGeom>
          <a:solidFill>
            <a:srgbClr val="FAFAFA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383133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A1A1A"/>
                </a:solidFill>
                <a:latin typeface="Inter"/>
              </a:rPr>
              <a:t>Quick actions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68880" y="3831336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FFB627"/>
                </a:solidFill>
                <a:latin typeface="Inter"/>
              </a:rPr>
              <a:t>MISSING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749039" y="3831336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Inter"/>
              </a:rPr>
              <a:t>Long-press dashboard tile → quick log. Swipe-to-delete meal. iOS share extension later.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52560" y="3831336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1A1A1A"/>
                </a:solidFill>
                <a:latin typeface="Inter"/>
              </a:rPr>
              <a:t>1 day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515600" y="3831336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FFB627"/>
                </a:solidFill>
                <a:latin typeface="Inter"/>
              </a:rPr>
              <a:t>MED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57200" y="4169664"/>
            <a:ext cx="11247120" cy="365760"/>
          </a:xfrm>
          <a:prstGeom prst="roundRect">
            <a:avLst>
              <a:gd name="adj" fmla="val 20000"/>
            </a:avLst>
          </a:prstGeom>
          <a:solidFill>
            <a:srgbClr val="F5F5F7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" y="422452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A1A1A"/>
                </a:solidFill>
                <a:latin typeface="Inter"/>
              </a:rPr>
              <a:t>Offline indicator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468880" y="4224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FFB627"/>
                </a:solidFill>
                <a:latin typeface="Inter"/>
              </a:rPr>
              <a:t>MISSING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749039" y="4224528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Inter"/>
              </a:rPr>
              <a:t>Banner: 'Offline — logging locally, will sync when reconnected' + queue count.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52560" y="422452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1A1A1A"/>
                </a:solidFill>
                <a:latin typeface="Inter"/>
              </a:rPr>
              <a:t>3 hours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515600" y="4224528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FFB627"/>
                </a:solidFill>
                <a:latin typeface="Inter"/>
              </a:rPr>
              <a:t>MED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57200" y="4562856"/>
            <a:ext cx="11247120" cy="365760"/>
          </a:xfrm>
          <a:prstGeom prst="roundRect">
            <a:avLst>
              <a:gd name="adj" fmla="val 20000"/>
            </a:avLst>
          </a:prstGeom>
          <a:solidFill>
            <a:srgbClr val="FAFAFA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0080" y="46177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A1A1A"/>
                </a:solidFill>
                <a:latin typeface="Inter"/>
              </a:rPr>
              <a:t>Wow moment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468880" y="46177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FF6B35"/>
                </a:solidFill>
                <a:latin typeface="Inter"/>
              </a:rPr>
              <a:t>MISSING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749039" y="46177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Inter"/>
              </a:rPr>
              <a:t>First time user logs via voice or camera → confetti + 'Saved 2 minutes vs typing!'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052560" y="46177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1A1A1A"/>
                </a:solidFill>
                <a:latin typeface="Inter"/>
              </a:rPr>
              <a:t>3 hours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515600" y="46177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FF6B35"/>
                </a:solidFill>
                <a:latin typeface="Inter"/>
              </a:rPr>
              <a:t>HIGH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57200" y="4956048"/>
            <a:ext cx="11247120" cy="365760"/>
          </a:xfrm>
          <a:prstGeom prst="roundRect">
            <a:avLst>
              <a:gd name="adj" fmla="val 20000"/>
            </a:avLst>
          </a:prstGeom>
          <a:solidFill>
            <a:srgbClr val="F5F5F7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0080" y="501091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A1A1A"/>
                </a:solidFill>
                <a:latin typeface="Inter"/>
              </a:rPr>
              <a:t>Error messages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468880" y="5010912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FFB627"/>
                </a:solidFill>
                <a:latin typeface="Inter"/>
              </a:rPr>
              <a:t>PARTIAL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749039" y="5010912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Inter"/>
              </a:rPr>
              <a:t>AppErrorHandler exists but messages should be human, specific, actionable.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052560" y="50109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1A1A1A"/>
                </a:solidFill>
                <a:latin typeface="Inter"/>
              </a:rPr>
              <a:t>1 day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515600" y="501091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FFB627"/>
                </a:solidFill>
                <a:latin typeface="Inter"/>
              </a:rPr>
              <a:t>MED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57200" y="5349240"/>
            <a:ext cx="11247120" cy="365760"/>
          </a:xfrm>
          <a:prstGeom prst="roundRect">
            <a:avLst>
              <a:gd name="adj" fmla="val 20000"/>
            </a:avLst>
          </a:prstGeom>
          <a:solidFill>
            <a:srgbClr val="FAFAFA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40080" y="5404104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A1A1A"/>
                </a:solidFill>
                <a:latin typeface="Inter"/>
              </a:rPr>
              <a:t>a11y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468880" y="5404104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FFB627"/>
                </a:solidFill>
                <a:latin typeface="Inter"/>
              </a:rPr>
              <a:t>MISSING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749039" y="5404104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Inter"/>
              </a:rPr>
              <a:t>No Semantics audit, no contrast check, no dynamic font scaling tested.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052560" y="540410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1A1A1A"/>
                </a:solidFill>
                <a:latin typeface="Inter"/>
              </a:rPr>
              <a:t>2 days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515600" y="5404104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FFB627"/>
                </a:solidFill>
                <a:latin typeface="Inter"/>
              </a:rPr>
              <a:t>MED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57200" y="5742432"/>
            <a:ext cx="11247120" cy="365760"/>
          </a:xfrm>
          <a:prstGeom prst="roundRect">
            <a:avLst>
              <a:gd name="adj" fmla="val 20000"/>
            </a:avLst>
          </a:prstGeom>
          <a:solidFill>
            <a:srgbClr val="F5F5F7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40080" y="579729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A1A1A"/>
                </a:solidFill>
                <a:latin typeface="Inter"/>
              </a:rPr>
              <a:t>i18n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468880" y="5797296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00C896"/>
                </a:solidFill>
                <a:latin typeface="Inter"/>
              </a:rPr>
              <a:t>MISSING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749039" y="5797296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Inter"/>
              </a:rPr>
              <a:t>English-only is fine for v1, but structure (.arb) must support it. ~150 strings to externalize.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052560" y="5797296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1A1A1A"/>
                </a:solidFill>
                <a:latin typeface="Inter"/>
              </a:rPr>
              <a:t>2-3 days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515600" y="5797296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>
                <a:solidFill>
                  <a:srgbClr val="00C896"/>
                </a:solidFill>
                <a:latin typeface="Inter"/>
              </a:rPr>
              <a:t>LOW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A0A0A0"/>
                </a:solidFill>
                <a:latin typeface="Inter"/>
              </a:rPr>
              <a:t>NutriTrack · Status Report · 2026-07-08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A0A0A0"/>
                </a:solidFill>
                <a:latin typeface="Inter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FF6B35"/>
                </a:solidFill>
                <a:latin typeface="Inter"/>
              </a:rPr>
              <a:t>SECTION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A1A1A"/>
                </a:solidFill>
                <a:latin typeface="Inter"/>
              </a:rPr>
              <a:t>Top Problems · Critical · Act 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B6B6B"/>
                </a:solidFill>
                <a:latin typeface="Inter"/>
              </a:rPr>
              <a:t>Blockers that prevent any further work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17320"/>
            <a:ext cx="11247120" cy="1207008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1600200"/>
            <a:ext cx="822960" cy="822960"/>
          </a:xfrm>
          <a:prstGeom prst="roundRect">
            <a:avLst>
              <a:gd name="adj" fmla="val 10000"/>
            </a:avLst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709928"/>
            <a:ext cx="8229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800" b="1">
                <a:solidFill>
                  <a:srgbClr val="FFF6EE"/>
                </a:solidFill>
                <a:latin typeface="Inter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508760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A1A1A"/>
                </a:solidFill>
                <a:latin typeface="Inter"/>
              </a:rPr>
              <a:t>Build is broken — 31 compile errors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1764792"/>
            <a:ext cx="6766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A0A0A0"/>
                </a:solidFill>
                <a:latin typeface="Inter"/>
              </a:rPr>
              <a:t>WHERE: lib/features/barcode/presentation/screens/barcode_scanner_screen.dart (27 errors) + lib/features/camera/presentation/screens/camera_screen.dart (4 errors)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1965960"/>
            <a:ext cx="6766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1A1A1A"/>
                </a:solidFill>
                <a:latin typeface="Inter"/>
              </a:rPr>
              <a:t>WHAT: RRect.topLeft/topRight/bottomLeft/bottomRight undefined (use Rect or RRect.tlRadius). 3 callbacks with `Function()` instead of `Function(String)`. MobileScannerErrorBuilder API drift.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2286000"/>
            <a:ext cx="6766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E53935"/>
                </a:solidFill>
                <a:latin typeface="Inter"/>
              </a:rPr>
              <a:t>IMPACT: App won't run on any device. Nothing else matters until this is fixed.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49640" y="1581912"/>
            <a:ext cx="3017520" cy="868680"/>
          </a:xfrm>
          <a:prstGeom prst="roundRect">
            <a:avLst>
              <a:gd name="adj" fmla="val 10000"/>
            </a:avLst>
          </a:prstGeom>
          <a:solidFill>
            <a:srgbClr val="F5F5F7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0" y="167335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A0A0A0"/>
                </a:solidFill>
                <a:latin typeface="Inter"/>
              </a:rPr>
              <a:t>EFFORT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18745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FF6B35"/>
                </a:solidFill>
                <a:latin typeface="Inter"/>
              </a:rPr>
              <a:t>45 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216712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6B6B6B"/>
                </a:solidFill>
                <a:latin typeface="Inter"/>
              </a:rPr>
              <a:t>TASK #1: Mechanical patch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715768"/>
            <a:ext cx="11247120" cy="1207008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94360" y="2898648"/>
            <a:ext cx="822960" cy="822960"/>
          </a:xfrm>
          <a:prstGeom prst="roundRect">
            <a:avLst>
              <a:gd name="adj" fmla="val 10000"/>
            </a:avLst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3008376"/>
            <a:ext cx="8229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800" b="1">
                <a:solidFill>
                  <a:srgbClr val="FFF6EE"/>
                </a:solidFill>
                <a:latin typeface="Inter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2807208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A1A1A"/>
                </a:solidFill>
                <a:latin typeface="Inter"/>
              </a:rPr>
              <a:t>Zero tests, no test/ directory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3063240"/>
            <a:ext cx="6766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A0A0A0"/>
                </a:solidFill>
                <a:latin typeface="Inter"/>
              </a:rPr>
              <a:t>WHERE: No unit tests, no widget tests, no integration tests.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0200" y="3264408"/>
            <a:ext cx="6766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1A1A1A"/>
                </a:solidFill>
                <a:latin typeface="Inter"/>
              </a:rPr>
              <a:t>WHAT: flutter test --coverage in CI passes only because there are no tests to fail. Every future refactor is a coin flip.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3584448"/>
            <a:ext cx="6766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E53935"/>
                </a:solidFill>
                <a:latin typeface="Inter"/>
              </a:rPr>
              <a:t>IMPACT: Regressions slip through silently. New contributors can't find patterns to copy.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549640" y="2880360"/>
            <a:ext cx="3017520" cy="868680"/>
          </a:xfrm>
          <a:prstGeom prst="roundRect">
            <a:avLst>
              <a:gd name="adj" fmla="val 10000"/>
            </a:avLst>
          </a:prstGeom>
          <a:solidFill>
            <a:srgbClr val="F5F5F7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0" y="297180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A0A0A0"/>
                </a:solidFill>
                <a:latin typeface="Inter"/>
              </a:rPr>
              <a:t>EFFORT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317296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FF6B35"/>
                </a:solidFill>
                <a:latin typeface="Inter"/>
              </a:rPr>
              <a:t>1-2 days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3465576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6B6B6B"/>
                </a:solidFill>
                <a:latin typeface="Inter"/>
              </a:rPr>
              <a:t>TASK #5 in roadmap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014216"/>
            <a:ext cx="11247120" cy="1207008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94360" y="4197096"/>
            <a:ext cx="822960" cy="822960"/>
          </a:xfrm>
          <a:prstGeom prst="roundRect">
            <a:avLst>
              <a:gd name="adj" fmla="val 10000"/>
            </a:avLst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4306824"/>
            <a:ext cx="8229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800" b="1">
                <a:solidFill>
                  <a:srgbClr val="FFF6EE"/>
                </a:solidFill>
                <a:latin typeface="Inter"/>
              </a:rP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00200" y="4105656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A1A1A"/>
                </a:solidFill>
                <a:latin typeface="Inter"/>
              </a:rPr>
              <a:t>No onboarding, no first-run experience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00200" y="4361688"/>
            <a:ext cx="6766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A0A0A0"/>
                </a:solidFill>
                <a:latin typeface="Inter"/>
              </a:rPr>
              <a:t>WHERE: Initial route is /dashboard. No /login, /signup, or /onboarding route exists.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00200" y="4562856"/>
            <a:ext cx="6766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1A1A1A"/>
                </a:solidFill>
                <a:latin typeface="Inter"/>
              </a:rPr>
              <a:t>WHAT: User opens the app, sees generic 2000 kcal target with no context. Churns in 30 seconds.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00200" y="4882896"/>
            <a:ext cx="6766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E53935"/>
                </a:solidFill>
                <a:latin typeface="Inter"/>
              </a:rPr>
              <a:t>IMPACT: Without onboarding, retention is impossible to measure or improve.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549640" y="4178808"/>
            <a:ext cx="3017520" cy="868680"/>
          </a:xfrm>
          <a:prstGeom prst="roundRect">
            <a:avLst>
              <a:gd name="adj" fmla="val 10000"/>
            </a:avLst>
          </a:prstGeom>
          <a:solidFill>
            <a:srgbClr val="F5F5F7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0" y="427024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A0A0A0"/>
                </a:solidFill>
                <a:latin typeface="Inter"/>
              </a:rPr>
              <a:t>EFFORT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4471416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FF6B35"/>
                </a:solidFill>
                <a:latin typeface="Inter"/>
              </a:rPr>
              <a:t>2 days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0" y="4764024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6B6B6B"/>
                </a:solidFill>
                <a:latin typeface="Inter"/>
              </a:rPr>
              <a:t>TASK #6 in roadmap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5312664"/>
            <a:ext cx="11247120" cy="1207008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94360" y="5495544"/>
            <a:ext cx="822960" cy="822960"/>
          </a:xfrm>
          <a:prstGeom prst="roundRect">
            <a:avLst>
              <a:gd name="adj" fmla="val 10000"/>
            </a:avLst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4360" y="5605272"/>
            <a:ext cx="8229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800" b="1">
                <a:solidFill>
                  <a:srgbClr val="FFF6EE"/>
                </a:solidFill>
                <a:latin typeface="Inter"/>
              </a:rPr>
              <a:t>04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600200" y="5404104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A1A1A"/>
                </a:solidFill>
                <a:latin typeface="Inter"/>
              </a:rPr>
              <a:t>All data wiring is fake / sample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600200" y="5660136"/>
            <a:ext cx="6766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A0A0A0"/>
                </a:solidFill>
                <a:latin typeface="Inter"/>
              </a:rPr>
              <a:t>WHERE: Insights screen renders `_generateSampleWeights()`. Workout screen has no session UI. Dashboard donut takes fake numbers. Camera/barcode review sheets show static UI.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600200" y="5861304"/>
            <a:ext cx="6766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1A1A1A"/>
                </a:solidFill>
                <a:latin typeface="Inter"/>
              </a:rPr>
              <a:t>WHAT: 5 of 6 main screens are basically tech demos. Drift tables exist but are unused.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00200" y="6181344"/>
            <a:ext cx="6766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E53935"/>
                </a:solidFill>
                <a:latin typeface="Inter"/>
              </a:rPr>
              <a:t>IMPACT: Without real data, the app cannot ship. No amount of polish hides this.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549640" y="5477256"/>
            <a:ext cx="3017520" cy="868680"/>
          </a:xfrm>
          <a:prstGeom prst="roundRect">
            <a:avLst>
              <a:gd name="adj" fmla="val 10000"/>
            </a:avLst>
          </a:prstGeom>
          <a:solidFill>
            <a:srgbClr val="F5F5F7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686800" y="5568696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A0A0A0"/>
                </a:solidFill>
                <a:latin typeface="Inter"/>
              </a:rPr>
              <a:t>EFFORT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86800" y="5769864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FF6B35"/>
                </a:solidFill>
                <a:latin typeface="Inter"/>
              </a:rPr>
              <a:t>4 days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86800" y="606247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6B6B6B"/>
                </a:solidFill>
                <a:latin typeface="Inter"/>
              </a:rPr>
              <a:t>TASK #7 in roadmap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A0A0A0"/>
                </a:solidFill>
                <a:latin typeface="Inter"/>
              </a:rPr>
              <a:t>NutriTrack · Status Report · 2026-07-08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A0A0A0"/>
                </a:solidFill>
                <a:latin typeface="Inter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FF6B35"/>
                </a:solidFill>
                <a:latin typeface="Inter"/>
              </a:rPr>
              <a:t>SECTION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A1A1A"/>
                </a:solidFill>
                <a:latin typeface="Inter"/>
              </a:rPr>
              <a:t>Top Problems · High Priority · This Week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B6B6B"/>
                </a:solidFill>
                <a:latin typeface="Inter"/>
              </a:rPr>
              <a:t>After the critical path, address these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17320"/>
            <a:ext cx="11247120" cy="950976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155448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618488"/>
            <a:ext cx="640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FFF6EE"/>
                </a:solidFill>
                <a:latin typeface="Inter"/>
              </a:rPr>
              <a:t>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490472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1A1A"/>
                </a:solidFill>
                <a:latin typeface="Inter"/>
              </a:rPr>
              <a:t>No crash reporting (Sentry/Crashlytics)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1746504"/>
            <a:ext cx="6766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1A1A1A"/>
                </a:solidFill>
                <a:latin typeface="Inter"/>
              </a:rPr>
              <a:t>No sentry_flutter, no firebase_crashlytics dep. AppErrorHandler captures errors but doesn't report them anywhere.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057400"/>
            <a:ext cx="6766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FF6B35"/>
                </a:solidFill>
                <a:latin typeface="Inter"/>
              </a:rPr>
              <a:t>IMPACT: Production without crash reporting = blind. You can't fix bugs you don't know about. PII risk if errors aren't redacted before logging.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1527048"/>
            <a:ext cx="3246120" cy="731520"/>
          </a:xfrm>
          <a:prstGeom prst="roundRect">
            <a:avLst>
              <a:gd name="adj" fmla="val 10000"/>
            </a:avLst>
          </a:prstGeom>
          <a:solidFill>
            <a:srgbClr val="F5F5F7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58200" y="1600200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>
                <a:solidFill>
                  <a:srgbClr val="A0A0A0"/>
                </a:solidFill>
                <a:latin typeface="Inter"/>
              </a:rPr>
              <a:t>EFFORT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17830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6B35"/>
                </a:solidFill>
                <a:latin typeface="Inter"/>
              </a:rPr>
              <a:t>2 hours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1600200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>
                <a:solidFill>
                  <a:srgbClr val="A0A0A0"/>
                </a:solidFill>
                <a:latin typeface="Inter"/>
              </a:rPr>
              <a:t>FIX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17830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1A1A1A"/>
                </a:solidFill>
                <a:latin typeface="Inter"/>
              </a:rPr>
              <a:t>Add sentry_flutter, wrap AppErrorHandler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423160"/>
            <a:ext cx="11247120" cy="950976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94360" y="256032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2624328"/>
            <a:ext cx="640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FFF6EE"/>
                </a:solidFill>
                <a:latin typeface="Inter"/>
              </a:rP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2496312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1A1A"/>
                </a:solidFill>
                <a:latin typeface="Inter"/>
              </a:rPr>
              <a:t>Voice logging UI half-built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2752344"/>
            <a:ext cx="6766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1A1A1A"/>
                </a:solidFill>
                <a:latin typeface="Inter"/>
              </a:rPr>
              <a:t>record: ^5.1.2 + Whisper path defined in AI gateway. Quick log bar has a mic icon. But no hold-to-talk button, no waveform animation, no transcription feedback.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3063240"/>
            <a:ext cx="6766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FF6B35"/>
                </a:solidFill>
                <a:latin typeface="Inter"/>
              </a:rPr>
              <a:t>IMPACT: This is NutriTrack's #1 differentiator vs MyFitnessPal. Without it, app is just another calorie tracker.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21040" y="2532888"/>
            <a:ext cx="3246120" cy="731520"/>
          </a:xfrm>
          <a:prstGeom prst="roundRect">
            <a:avLst>
              <a:gd name="adj" fmla="val 10000"/>
            </a:avLst>
          </a:prstGeom>
          <a:solidFill>
            <a:srgbClr val="F5F5F7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58200" y="2606040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>
                <a:solidFill>
                  <a:srgbClr val="A0A0A0"/>
                </a:solidFill>
                <a:latin typeface="Inter"/>
              </a:rPr>
              <a:t>EFFORT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27889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6B35"/>
                </a:solidFill>
                <a:latin typeface="Inter"/>
              </a:rPr>
              <a:t>3 days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84080" y="2606040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>
                <a:solidFill>
                  <a:srgbClr val="A0A0A0"/>
                </a:solidFill>
                <a:latin typeface="Inter"/>
              </a:rPr>
              <a:t>FIX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0" y="27889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1A1A1A"/>
                </a:solidFill>
                <a:latin typeface="Inter"/>
              </a:rPr>
              <a:t>Hold-to-talk + waveform + Whisper wiring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3429000"/>
            <a:ext cx="11247120" cy="950976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94360" y="35661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3630168"/>
            <a:ext cx="640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FFF6EE"/>
                </a:solidFill>
                <a:latin typeface="Inter"/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17320" y="3502152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1A1A"/>
                </a:solidFill>
                <a:latin typeface="Inter"/>
              </a:rPr>
              <a:t>AI camera lacks verification flow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17320" y="3758184"/>
            <a:ext cx="6766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1A1A1A"/>
                </a:solidFill>
                <a:latin typeface="Inter"/>
              </a:rPr>
              <a:t>Camera captures, AI returns FoodLogEntry list with confidence. But no UI to show confidence bars or ask user to confirm low-confidence items.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17320" y="4069080"/>
            <a:ext cx="6766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FF6B35"/>
                </a:solidFill>
                <a:latin typeface="Inter"/>
              </a:rPr>
              <a:t>IMPACT: Without verification, users lose trust the moment AI guesses wrong. Need red/yellow/green confidence indicator + 'Take another photo?' escape hatch.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321040" y="3538728"/>
            <a:ext cx="3246120" cy="731520"/>
          </a:xfrm>
          <a:prstGeom prst="roundRect">
            <a:avLst>
              <a:gd name="adj" fmla="val 10000"/>
            </a:avLst>
          </a:prstGeom>
          <a:solidFill>
            <a:srgbClr val="F5F5F7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58200" y="3611880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>
                <a:solidFill>
                  <a:srgbClr val="A0A0A0"/>
                </a:solidFill>
                <a:latin typeface="Inter"/>
              </a:rPr>
              <a:t>EFFORT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58200" y="37947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6B35"/>
                </a:solidFill>
                <a:latin typeface="Inter"/>
              </a:rPr>
              <a:t>3 days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84080" y="3611880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>
                <a:solidFill>
                  <a:srgbClr val="A0A0A0"/>
                </a:solidFill>
                <a:latin typeface="Inter"/>
              </a:rPr>
              <a:t>FIX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84080" y="37947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1A1A1A"/>
                </a:solidFill>
                <a:latin typeface="Inter"/>
              </a:rPr>
              <a:t>Add confidence UI + quick-fix shortcuts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4434840"/>
            <a:ext cx="11247120" cy="950976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94360" y="457200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4360" y="4636008"/>
            <a:ext cx="640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FFF6EE"/>
                </a:solidFill>
                <a:latin typeface="Inter"/>
              </a:rPr>
              <a:t>08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17320" y="4507992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1A1A"/>
                </a:solidFill>
                <a:latin typeface="Inter"/>
              </a:rPr>
              <a:t>Exercise DB: 46 of 488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4764024"/>
            <a:ext cx="6766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1A1A1A"/>
                </a:solidFill>
                <a:latin typeface="Inter"/>
              </a:rPr>
              <a:t>scripts/exercises_chest.js is the only seed file. Back/shoulders/arms/legs/glutes/core/cardio/full-body missing.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417320" y="5074920"/>
            <a:ext cx="6766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FF6B35"/>
                </a:solidFill>
                <a:latin typeface="Inter"/>
              </a:rPr>
              <a:t>IMPACT: Workout feature is half-built. User can search but most muscle groups show zero results.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321040" y="4544568"/>
            <a:ext cx="3246120" cy="731520"/>
          </a:xfrm>
          <a:prstGeom prst="roundRect">
            <a:avLst>
              <a:gd name="adj" fmla="val 10000"/>
            </a:avLst>
          </a:prstGeom>
          <a:solidFill>
            <a:srgbClr val="F5F5F7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58200" y="4617720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>
                <a:solidFill>
                  <a:srgbClr val="A0A0A0"/>
                </a:solidFill>
                <a:latin typeface="Inter"/>
              </a:rPr>
              <a:t>EFFORT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58200" y="48006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6B35"/>
                </a:solidFill>
                <a:latin typeface="Inter"/>
              </a:rPr>
              <a:t>4-6 hours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784080" y="4617720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>
                <a:solidFill>
                  <a:srgbClr val="A0A0A0"/>
                </a:solidFill>
                <a:latin typeface="Inter"/>
              </a:rPr>
              <a:t>FIX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784080" y="48006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1A1A1A"/>
                </a:solidFill>
                <a:latin typeface="Inter"/>
              </a:rPr>
              <a:t>Boilerplate: 8 more .js files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57200" y="5440680"/>
            <a:ext cx="11247120" cy="950976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594360" y="557784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94360" y="5641848"/>
            <a:ext cx="640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FFF6EE"/>
                </a:solidFill>
                <a:latin typeface="Inter"/>
              </a:rPr>
              <a:t>09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417320" y="5513832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1A1A"/>
                </a:solidFill>
                <a:latin typeface="Inter"/>
              </a:rPr>
              <a:t>Workout session UI missing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417320" y="5769864"/>
            <a:ext cx="6766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1A1A1A"/>
                </a:solidFill>
                <a:latin typeface="Inter"/>
              </a:rPr>
              <a:t>WorkoutScreen has search + list. But no start session → log sets → rest timer → end session flow. No active-session screen, no PR tracking.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6080760"/>
            <a:ext cx="6766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FF6B35"/>
                </a:solidFill>
                <a:latin typeface="Inter"/>
              </a:rPr>
              <a:t>IMPACT: Half of NutriTrack's value prop is the workout side. Without session UI, it's a search tool, not a tracker.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321040" y="5550408"/>
            <a:ext cx="3246120" cy="731520"/>
          </a:xfrm>
          <a:prstGeom prst="roundRect">
            <a:avLst>
              <a:gd name="adj" fmla="val 10000"/>
            </a:avLst>
          </a:prstGeom>
          <a:solidFill>
            <a:srgbClr val="F5F5F7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458200" y="5623560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>
                <a:solidFill>
                  <a:srgbClr val="A0A0A0"/>
                </a:solidFill>
                <a:latin typeface="Inter"/>
              </a:rPr>
              <a:t>EFFORT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458200" y="58064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6B35"/>
                </a:solidFill>
                <a:latin typeface="Inter"/>
              </a:rPr>
              <a:t>4 days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784080" y="5623560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>
                <a:solidFill>
                  <a:srgbClr val="A0A0A0"/>
                </a:solidFill>
                <a:latin typeface="Inter"/>
              </a:rPr>
              <a:t>FIX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784080" y="58064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1A1A1A"/>
                </a:solidFill>
                <a:latin typeface="Inter"/>
              </a:rPr>
              <a:t>Active session + set logger + rest timer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A0A0A0"/>
                </a:solidFill>
                <a:latin typeface="Inter"/>
              </a:rPr>
              <a:t>NutriTrack · Status Report · 2026-07-08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A0A0A0"/>
                </a:solidFill>
                <a:latin typeface="Inter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FF6B35"/>
                </a:solidFill>
                <a:latin typeface="Inter"/>
              </a:rPr>
              <a:t>SECTION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A1A1A"/>
                </a:solidFill>
                <a:latin typeface="Inter"/>
              </a:rPr>
              <a:t>Top Problems · Medium Priority · This Month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B6B6B"/>
                </a:solidFill>
                <a:latin typeface="Inter"/>
              </a:rPr>
              <a:t>Polish, performance, security hardening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17320"/>
            <a:ext cx="11247120" cy="786384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1554480"/>
            <a:ext cx="502920" cy="502920"/>
          </a:xfrm>
          <a:prstGeom prst="roundRect">
            <a:avLst>
              <a:gd name="adj" fmla="val 10000"/>
            </a:avLst>
          </a:prstGeom>
          <a:solidFill>
            <a:srgbClr val="FF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600200"/>
            <a:ext cx="502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1A1A1A"/>
                </a:solidFill>
                <a:latin typeface="Inter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472184"/>
            <a:ext cx="6858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1A1A"/>
                </a:solidFill>
                <a:latin typeface="Inter"/>
              </a:rPr>
              <a:t>9 packages on major N-1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1691640"/>
            <a:ext cx="68580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6B6B"/>
                </a:solidFill>
                <a:latin typeface="Inter"/>
              </a:rPr>
              <a:t>flutter_riverpod 2.6 (latest 3.3), freezed 2.5 (3.2), mobile_scanner 5.2 (7.2), health REMOVED, go_router 14.8 (17.3), intl 0.19 (0.20), etc.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1965960"/>
            <a:ext cx="6858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FFB627"/>
                </a:solidFill>
                <a:latin typeface="Inter"/>
              </a:rPr>
              <a:t>IMPACT: Future Flutter versions break these. Each is a real migration: API renames, codegen output changes, permission flow drift.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1536192"/>
            <a:ext cx="3246120" cy="548640"/>
          </a:xfrm>
          <a:prstGeom prst="roundRect">
            <a:avLst>
              <a:gd name="adj" fmla="val 10000"/>
            </a:avLst>
          </a:prstGeom>
          <a:solidFill>
            <a:srgbClr val="F5F5F7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58200" y="1581912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>
                <a:solidFill>
                  <a:srgbClr val="A0A0A0"/>
                </a:solidFill>
                <a:latin typeface="Inter"/>
              </a:rPr>
              <a:t>EFFORT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1764792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FF6B35"/>
                </a:solidFill>
                <a:latin typeface="Inter"/>
              </a:rPr>
              <a:t>1 week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1581912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>
                <a:solidFill>
                  <a:srgbClr val="A0A0A0"/>
                </a:solidFill>
                <a:latin typeface="Inter"/>
              </a:rPr>
              <a:t>FIX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176479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1A1A1A"/>
                </a:solidFill>
                <a:latin typeface="Inter"/>
              </a:rPr>
              <a:t>5 grouped PRs per KNOWN_WARNINGS §6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267712"/>
            <a:ext cx="11247120" cy="786384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94360" y="2404872"/>
            <a:ext cx="502920" cy="502920"/>
          </a:xfrm>
          <a:prstGeom prst="roundRect">
            <a:avLst>
              <a:gd name="adj" fmla="val 10000"/>
            </a:avLst>
          </a:prstGeom>
          <a:solidFill>
            <a:srgbClr val="FF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2450592"/>
            <a:ext cx="502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1A1A1A"/>
                </a:solidFill>
                <a:latin typeface="Inter"/>
              </a:rPr>
              <a:t>11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322576"/>
            <a:ext cx="6858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1A1A"/>
                </a:solidFill>
                <a:latin typeface="Inter"/>
              </a:rPr>
              <a:t>7 dead dependencies in pubspec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2542032"/>
            <a:ext cx="68580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6B6B"/>
                </a:solidFill>
                <a:latin typeface="Inter"/>
              </a:rPr>
              <a:t>just_audio, web_socket_channel, confetti, flutter_staggered_animations, animations, lottie, gap, shimmer, supabase_flutter.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2816352"/>
            <a:ext cx="6858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FFB627"/>
                </a:solidFill>
                <a:latin typeface="Inter"/>
              </a:rPr>
              <a:t>IMPACT: 0 imports in lib/ for most. ~10 MB wasted APK size. Slower builds.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21040" y="2386584"/>
            <a:ext cx="3246120" cy="548640"/>
          </a:xfrm>
          <a:prstGeom prst="roundRect">
            <a:avLst>
              <a:gd name="adj" fmla="val 10000"/>
            </a:avLst>
          </a:prstGeom>
          <a:solidFill>
            <a:srgbClr val="F5F5F7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58200" y="2432304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>
                <a:solidFill>
                  <a:srgbClr val="A0A0A0"/>
                </a:solidFill>
                <a:latin typeface="Inter"/>
              </a:rPr>
              <a:t>EFFORT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2615184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FF6B35"/>
                </a:solidFill>
                <a:latin typeface="Inter"/>
              </a:rPr>
              <a:t>30 min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84080" y="2432304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>
                <a:solidFill>
                  <a:srgbClr val="A0A0A0"/>
                </a:solidFill>
                <a:latin typeface="Inter"/>
              </a:rPr>
              <a:t>FIX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0" y="2615184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1A1A1A"/>
                </a:solidFill>
                <a:latin typeface="Inter"/>
              </a:rPr>
              <a:t>flutter pub remove for each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3118104"/>
            <a:ext cx="11247120" cy="786384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94360" y="3255264"/>
            <a:ext cx="502920" cy="502920"/>
          </a:xfrm>
          <a:prstGeom prst="roundRect">
            <a:avLst>
              <a:gd name="adj" fmla="val 10000"/>
            </a:avLst>
          </a:prstGeom>
          <a:solidFill>
            <a:srgbClr val="FF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3300984"/>
            <a:ext cx="502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1A1A1A"/>
                </a:solidFill>
                <a:latin typeface="Inter"/>
              </a:rPr>
              <a:t>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0" y="3172968"/>
            <a:ext cx="6858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1A1A"/>
                </a:solidFill>
                <a:latin typeface="Inter"/>
              </a:rPr>
              <a:t>README lies about Isar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80160" y="3392424"/>
            <a:ext cx="68580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6B6B"/>
                </a:solidFill>
                <a:latin typeface="Inter"/>
              </a:rPr>
              <a:t>Stack table says Local DB | Isar 3.1. You migrated to Drift 5 commits ago.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80160" y="3666744"/>
            <a:ext cx="6858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FFB627"/>
                </a:solidFill>
                <a:latin typeface="Inter"/>
              </a:rPr>
              <a:t>IMPACT: Confuses every new contributor. Costs an hour of confusion per onboarding.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321040" y="3236976"/>
            <a:ext cx="3246120" cy="548640"/>
          </a:xfrm>
          <a:prstGeom prst="roundRect">
            <a:avLst>
              <a:gd name="adj" fmla="val 10000"/>
            </a:avLst>
          </a:prstGeom>
          <a:solidFill>
            <a:srgbClr val="F5F5F7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58200" y="3282696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>
                <a:solidFill>
                  <a:srgbClr val="A0A0A0"/>
                </a:solidFill>
                <a:latin typeface="Inter"/>
              </a:rPr>
              <a:t>EFFORT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58200" y="3465576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FF6B35"/>
                </a:solidFill>
                <a:latin typeface="Inter"/>
              </a:rPr>
              <a:t>10 min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84080" y="3282696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>
                <a:solidFill>
                  <a:srgbClr val="A0A0A0"/>
                </a:solidFill>
                <a:latin typeface="Inter"/>
              </a:rPr>
              <a:t>FIX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84080" y="3465576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1A1A1A"/>
                </a:solidFill>
                <a:latin typeface="Inter"/>
              </a:rPr>
              <a:t>3-line edit + bump version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3968496"/>
            <a:ext cx="11247120" cy="786384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94360" y="4105656"/>
            <a:ext cx="502920" cy="502920"/>
          </a:xfrm>
          <a:prstGeom prst="roundRect">
            <a:avLst>
              <a:gd name="adj" fmla="val 10000"/>
            </a:avLst>
          </a:prstGeom>
          <a:solidFill>
            <a:srgbClr val="FF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4360" y="4151376"/>
            <a:ext cx="502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1A1A1A"/>
                </a:solidFill>
                <a:latin typeface="Inter"/>
              </a:rPr>
              <a:t>13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80160" y="4023360"/>
            <a:ext cx="6858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1A1A"/>
                </a:solidFill>
                <a:latin typeface="Inter"/>
              </a:rPr>
              <a:t>Release build uses debug keystore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80160" y="4242816"/>
            <a:ext cx="68580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6B6B"/>
                </a:solidFill>
                <a:latin typeface="Inter"/>
              </a:rPr>
              <a:t>android/app/build.gradle: signingConfigs.release = signingConfigs.debug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80160" y="4517136"/>
            <a:ext cx="6858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FFB627"/>
                </a:solidFill>
                <a:latin typeface="Inter"/>
              </a:rPr>
              <a:t>IMPACT: Acceptable for internal testing. CRITICAL to replace before public launch — Play Store / App Store will reject.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321040" y="4087368"/>
            <a:ext cx="3246120" cy="548640"/>
          </a:xfrm>
          <a:prstGeom prst="roundRect">
            <a:avLst>
              <a:gd name="adj" fmla="val 10000"/>
            </a:avLst>
          </a:prstGeom>
          <a:solidFill>
            <a:srgbClr val="F5F5F7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58200" y="4133088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>
                <a:solidFill>
                  <a:srgbClr val="A0A0A0"/>
                </a:solidFill>
                <a:latin typeface="Inter"/>
              </a:rPr>
              <a:t>EFFORT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58200" y="431596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FF6B35"/>
                </a:solidFill>
                <a:latin typeface="Inter"/>
              </a:rPr>
              <a:t>1 hour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784080" y="4133088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>
                <a:solidFill>
                  <a:srgbClr val="A0A0A0"/>
                </a:solidFill>
                <a:latin typeface="Inter"/>
              </a:rPr>
              <a:t>FIX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784080" y="431596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1A1A1A"/>
                </a:solidFill>
                <a:latin typeface="Inter"/>
              </a:rPr>
              <a:t>Generate release keystore, store in key.properties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57200" y="4818888"/>
            <a:ext cx="11247120" cy="786384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594360" y="4956048"/>
            <a:ext cx="502920" cy="502920"/>
          </a:xfrm>
          <a:prstGeom prst="roundRect">
            <a:avLst>
              <a:gd name="adj" fmla="val 10000"/>
            </a:avLst>
          </a:prstGeom>
          <a:solidFill>
            <a:srgbClr val="FF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94360" y="5001768"/>
            <a:ext cx="502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1A1A1A"/>
                </a:solidFill>
                <a:latin typeface="Inter"/>
              </a:rPr>
              <a:t>14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280160" y="4873752"/>
            <a:ext cx="6858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1A1A"/>
                </a:solidFill>
                <a:latin typeface="Inter"/>
              </a:rPr>
              <a:t>Adaptive TDEE engine not built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80160" y="5093208"/>
            <a:ext cx="68580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6B6B"/>
                </a:solidFill>
                <a:latin typeface="Inter"/>
              </a:rPr>
              <a:t>TDEE wizard calculates starting value. But no weekly recalibration from real weight + intake data.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5367528"/>
            <a:ext cx="6858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FFB627"/>
                </a:solidFill>
                <a:latin typeface="Inter"/>
              </a:rPr>
              <a:t>IMPACT: MacroFactor's killer feature. Without it, NutriTrack's target is static even after 6 months of logging.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321040" y="4937760"/>
            <a:ext cx="3246120" cy="548640"/>
          </a:xfrm>
          <a:prstGeom prst="roundRect">
            <a:avLst>
              <a:gd name="adj" fmla="val 10000"/>
            </a:avLst>
          </a:prstGeom>
          <a:solidFill>
            <a:srgbClr val="F5F5F7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458200" y="4983480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>
                <a:solidFill>
                  <a:srgbClr val="A0A0A0"/>
                </a:solidFill>
                <a:latin typeface="Inter"/>
              </a:rPr>
              <a:t>EFFORT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458200" y="516636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FF6B35"/>
                </a:solidFill>
                <a:latin typeface="Inter"/>
              </a:rPr>
              <a:t>1 day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784080" y="4983480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>
                <a:solidFill>
                  <a:srgbClr val="A0A0A0"/>
                </a:solidFill>
                <a:latin typeface="Inter"/>
              </a:rPr>
              <a:t>FIX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784080" y="51663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1A1A1A"/>
                </a:solidFill>
                <a:latin typeface="Inter"/>
              </a:rPr>
              <a:t>7700 kcal/kg formula + weekly trigger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57200" y="5669280"/>
            <a:ext cx="11247120" cy="786384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594360" y="5806440"/>
            <a:ext cx="502920" cy="502920"/>
          </a:xfrm>
          <a:prstGeom prst="roundRect">
            <a:avLst>
              <a:gd name="adj" fmla="val 10000"/>
            </a:avLst>
          </a:prstGeom>
          <a:solidFill>
            <a:srgbClr val="FFB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94360" y="5852160"/>
            <a:ext cx="502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1A1A1A"/>
                </a:solidFill>
                <a:latin typeface="Inter"/>
              </a:rPr>
              <a:t>15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280160" y="5724144"/>
            <a:ext cx="6858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1A1A"/>
                </a:solidFill>
                <a:latin typeface="Inter"/>
              </a:rPr>
              <a:t>Image storage on device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280160" y="5943600"/>
            <a:ext cx="68580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6B6B"/>
                </a:solidFill>
                <a:latin typeface="Inter"/>
              </a:rPr>
              <a:t>Camera captures saved to app-private dir. Never deleted.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280160" y="6217920"/>
            <a:ext cx="6858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FFB627"/>
                </a:solidFill>
                <a:latin typeface="Inter"/>
              </a:rPr>
              <a:t>IMPACT: Old food photos pile up. Forensic tools can recover. PII risk.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321040" y="5788152"/>
            <a:ext cx="3246120" cy="548640"/>
          </a:xfrm>
          <a:prstGeom prst="roundRect">
            <a:avLst>
              <a:gd name="adj" fmla="val 10000"/>
            </a:avLst>
          </a:prstGeom>
          <a:solidFill>
            <a:srgbClr val="F5F5F7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458200" y="5833872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>
                <a:solidFill>
                  <a:srgbClr val="A0A0A0"/>
                </a:solidFill>
                <a:latin typeface="Inter"/>
              </a:rPr>
              <a:t>EFFORT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458200" y="6016752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FF6B35"/>
                </a:solidFill>
                <a:latin typeface="Inter"/>
              </a:rPr>
              <a:t>2 hours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784080" y="5833872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>
                <a:solidFill>
                  <a:srgbClr val="A0A0A0"/>
                </a:solidFill>
                <a:latin typeface="Inter"/>
              </a:rPr>
              <a:t>FIX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784080" y="601675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1A1A1A"/>
                </a:solidFill>
                <a:latin typeface="Inter"/>
              </a:rPr>
              <a:t>Retention policy + cleanup cron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A0A0A0"/>
                </a:solidFill>
                <a:latin typeface="Inter"/>
              </a:rPr>
              <a:t>NutriTrack · Status Report · 2026-07-08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A0A0A0"/>
                </a:solidFill>
                <a:latin typeface="Inter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640080"/>
            <a:ext cx="10881360" cy="5577840"/>
          </a:xfrm>
          <a:prstGeom prst="roundRect">
            <a:avLst>
              <a:gd name="adj" fmla="val 2000"/>
            </a:avLst>
          </a:prstGeom>
          <a:solidFill>
            <a:srgbClr val="FF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058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6B35"/>
                </a:solidFill>
                <a:latin typeface="Inter"/>
              </a:rPr>
              <a:t>WHAT TO DO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>
                <a:solidFill>
                  <a:srgbClr val="1A1A1A"/>
                </a:solidFill>
                <a:latin typeface="Inter"/>
              </a:rPr>
              <a:t>Three steps to get</a:t>
            </a:r>
          </a:p>
          <a:p>
            <a:pPr algn="l">
              <a:lnSpc>
                <a:spcPct val="110000"/>
              </a:lnSpc>
            </a:pPr>
            <a:r>
              <a:rPr sz="3600" b="1">
                <a:solidFill>
                  <a:srgbClr val="1A1A1A"/>
                </a:solidFill>
                <a:latin typeface="Inter"/>
              </a:rPr>
              <a:t>NutriTrack shipping.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743200"/>
            <a:ext cx="10058400" cy="1051560"/>
          </a:xfrm>
          <a:prstGeom prst="roundRect">
            <a:avLst>
              <a:gd name="adj" fmla="val 6000"/>
            </a:avLst>
          </a:prstGeom>
          <a:solidFill>
            <a:srgbClr val="FAFAFA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2743200"/>
            <a:ext cx="109728" cy="105156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852928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6B35"/>
                </a:solidFill>
                <a:latin typeface="Inter"/>
              </a:rPr>
              <a:t>TODAY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127248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1A1A1A"/>
                </a:solidFill>
                <a:latin typeface="Inter"/>
              </a:rPr>
              <a:t>Fix the build.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035808"/>
            <a:ext cx="6217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6B6B6B"/>
                </a:solidFill>
                <a:latin typeface="Inter"/>
              </a:rPr>
              <a:t>Run the 5-line edit list for RRect + Function() signatures. 45 minutes. Open the icon. Run flutter run.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931920"/>
            <a:ext cx="10058400" cy="1051560"/>
          </a:xfrm>
          <a:prstGeom prst="roundRect">
            <a:avLst>
              <a:gd name="adj" fmla="val 6000"/>
            </a:avLst>
          </a:prstGeom>
          <a:solidFill>
            <a:srgbClr val="FAFAFA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3931920"/>
            <a:ext cx="109728" cy="105156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4041648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6B35"/>
                </a:solidFill>
                <a:latin typeface="Inter"/>
              </a:rPr>
              <a:t>THIS WEEK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315968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1A1A1A"/>
                </a:solidFill>
                <a:latin typeface="Inter"/>
              </a:rPr>
              <a:t>Wire the data + add Sentry.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4224528"/>
            <a:ext cx="6217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6B6B6B"/>
                </a:solidFill>
                <a:latin typeface="Inter"/>
              </a:rPr>
              <a:t>Replace 5 sample-data screens with real Drift. Add Sentry (2 hours). Wire 7 priority tests. ~3 days.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5120640"/>
            <a:ext cx="10058400" cy="1051560"/>
          </a:xfrm>
          <a:prstGeom prst="roundRect">
            <a:avLst>
              <a:gd name="adj" fmla="val 6000"/>
            </a:avLst>
          </a:prstGeom>
          <a:solidFill>
            <a:srgbClr val="FAFAFA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" y="5120640"/>
            <a:ext cx="109728" cy="105156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5230368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6B35"/>
                </a:solidFill>
                <a:latin typeface="Inter"/>
              </a:rPr>
              <a:t>THIS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5504688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1A1A1A"/>
                </a:solidFill>
                <a:latin typeface="Inter"/>
              </a:rPr>
              <a:t>Ship differentiators.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5413248"/>
            <a:ext cx="6217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6B6B6B"/>
                </a:solidFill>
                <a:latin typeface="Inter"/>
              </a:rPr>
              <a:t>Voice UI + camera verification + workout session + complete exercise DB. ~3 weeks. Then TestFlight + public beta.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9893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Inter"/>
              </a:rPr>
              <a:t>Repo: github.com/albertlaudia/nutritrack  ·  PB: pocketbase.scaleupcrm.com  ·  9,373 Dart LOC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A0A0A0"/>
                </a:solidFill>
                <a:latin typeface="Inter"/>
              </a:rPr>
              <a:t>NutriTrack · Status Report · 2026-07-08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A0A0A0"/>
                </a:solidFill>
                <a:latin typeface="Inter"/>
              </a:rP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